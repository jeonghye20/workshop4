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7"/>
    <p:sldId id="267" r:id="rId18"/>
    <p:sldId id="268" r:id="rId19"/>
    <p:sldId id="269" r:id="rId20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  </a:t>
            </a:r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기능 (MVP)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고객여정지도 Pain Point에서 도출한 20개 기능 — 교사 10 · 학생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212080" y="2377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AI 학습 플랫폼 기획안  |  2. 서비스 기획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384048" cy="1828800"/>
          </a:xfrm>
          <a:prstGeom prst="roundRect">
            <a:avLst>
              <a:gd name="adj" fmla="val 11905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50976"/>
            <a:ext cx="3840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32688" y="950976"/>
            <a:ext cx="248107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32688" y="950976"/>
            <a:ext cx="2481072" cy="329184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9" name="Shape 7"/>
          <p:cNvSpPr/>
          <p:nvPr/>
        </p:nvSpPr>
        <p:spPr>
          <a:xfrm>
            <a:off x="932688" y="1115568"/>
            <a:ext cx="2481072" cy="1645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1042416" y="950976"/>
            <a:ext cx="2261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준비  </a:t>
            </a:r>
            <a:pPr algn="l" indent="0" marL="0">
              <a:buNone/>
            </a:pPr>
            <a:r>
              <a:rPr lang="en-US" sz="850" dirty="0">
                <a:solidFill>
                  <a:srgbClr val="D9E6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수업 전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24128" y="1371600"/>
            <a:ext cx="2298192" cy="301752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128" y="1371600"/>
            <a:ext cx="41148" cy="3017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1133856" y="1371600"/>
            <a:ext cx="1822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T-01  </a:t>
            </a:r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이력 조회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901696" y="1440180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2901696" y="143103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024128" y="1723644"/>
            <a:ext cx="2298192" cy="301752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4128" y="1723644"/>
            <a:ext cx="41148" cy="3017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1133856" y="1723644"/>
            <a:ext cx="1822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T-02  </a:t>
            </a:r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학습 분석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901696" y="1792224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2901696" y="178308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024128" y="2075688"/>
            <a:ext cx="2298192" cy="301752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" y="2075688"/>
            <a:ext cx="41148" cy="3017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1133856" y="2075688"/>
            <a:ext cx="1822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T-03  </a:t>
            </a:r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콘텐츠 라이브러리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901696" y="2144268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01696" y="213512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024128" y="2427732"/>
            <a:ext cx="2298192" cy="301752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24128" y="2427732"/>
            <a:ext cx="41148" cy="3017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1133856" y="2427732"/>
            <a:ext cx="1822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T-04  </a:t>
            </a:r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자료 재구성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901696" y="2496312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2901696" y="248716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578352" y="950976"/>
            <a:ext cx="248107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578352" y="950976"/>
            <a:ext cx="2481072" cy="329184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/>
        </p:spPr>
      </p:sp>
      <p:sp>
        <p:nvSpPr>
          <p:cNvPr id="33" name="Shape 31"/>
          <p:cNvSpPr/>
          <p:nvPr/>
        </p:nvSpPr>
        <p:spPr>
          <a:xfrm>
            <a:off x="3578352" y="1115568"/>
            <a:ext cx="2481072" cy="1645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4" name="Text 32"/>
          <p:cNvSpPr/>
          <p:nvPr/>
        </p:nvSpPr>
        <p:spPr>
          <a:xfrm>
            <a:off x="3688080" y="950976"/>
            <a:ext cx="2261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운영  </a:t>
            </a:r>
            <a:pPr algn="l" indent="0" marL="0">
              <a:buNone/>
            </a:pPr>
            <a:r>
              <a:rPr lang="en-US" sz="850" dirty="0">
                <a:solidFill>
                  <a:srgbClr val="D9E6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수업 중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669792" y="1371600"/>
            <a:ext cx="2298192" cy="301752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69792" y="1371600"/>
            <a:ext cx="41148" cy="3017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7" name="Text 35"/>
          <p:cNvSpPr/>
          <p:nvPr/>
        </p:nvSpPr>
        <p:spPr>
          <a:xfrm>
            <a:off x="3779520" y="1371600"/>
            <a:ext cx="1822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T-05  </a:t>
            </a:r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동기화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547360" y="1440180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39" name="Text 37"/>
          <p:cNvSpPr/>
          <p:nvPr/>
        </p:nvSpPr>
        <p:spPr>
          <a:xfrm>
            <a:off x="5547360" y="143103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3669792" y="1723644"/>
            <a:ext cx="2298192" cy="301752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69792" y="1723644"/>
            <a:ext cx="41148" cy="3017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2" name="Text 40"/>
          <p:cNvSpPr/>
          <p:nvPr/>
        </p:nvSpPr>
        <p:spPr>
          <a:xfrm>
            <a:off x="3779520" y="1723644"/>
            <a:ext cx="1822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T-06  </a:t>
            </a:r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학생 화면 모니터링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547360" y="1792224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44" name="Text 42"/>
          <p:cNvSpPr/>
          <p:nvPr/>
        </p:nvSpPr>
        <p:spPr>
          <a:xfrm>
            <a:off x="5547360" y="178308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3669792" y="2075688"/>
            <a:ext cx="2298192" cy="301752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69792" y="2075688"/>
            <a:ext cx="41148" cy="3017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7" name="Text 45"/>
          <p:cNvSpPr/>
          <p:nvPr/>
        </p:nvSpPr>
        <p:spPr>
          <a:xfrm>
            <a:off x="3779520" y="2075688"/>
            <a:ext cx="1822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T-07  </a:t>
            </a:r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조별 활동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547360" y="2144268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47360" y="213512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3669792" y="2427732"/>
            <a:ext cx="2298192" cy="301752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669792" y="2427732"/>
            <a:ext cx="41148" cy="3017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2" name="Text 50"/>
          <p:cNvSpPr/>
          <p:nvPr/>
        </p:nvSpPr>
        <p:spPr>
          <a:xfrm>
            <a:off x="3779520" y="2427732"/>
            <a:ext cx="1822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T-08  </a:t>
            </a:r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튜터링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547360" y="2496312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54" name="Text 52"/>
          <p:cNvSpPr/>
          <p:nvPr/>
        </p:nvSpPr>
        <p:spPr>
          <a:xfrm>
            <a:off x="5547360" y="248716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224016" y="950976"/>
            <a:ext cx="248107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224016" y="950976"/>
            <a:ext cx="2481072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57" name="Shape 55"/>
          <p:cNvSpPr/>
          <p:nvPr/>
        </p:nvSpPr>
        <p:spPr>
          <a:xfrm>
            <a:off x="6224016" y="1115568"/>
            <a:ext cx="2481072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8" name="Text 56"/>
          <p:cNvSpPr/>
          <p:nvPr/>
        </p:nvSpPr>
        <p:spPr>
          <a:xfrm>
            <a:off x="6333744" y="950976"/>
            <a:ext cx="2261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 · 분석  </a:t>
            </a:r>
            <a:pPr algn="l" indent="0" marL="0">
              <a:buNone/>
            </a:pPr>
            <a:r>
              <a:rPr lang="en-US" sz="850" dirty="0">
                <a:solidFill>
                  <a:srgbClr val="D9E6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수업 중 · 후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315456" y="1371600"/>
            <a:ext cx="2298192" cy="301752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15456" y="1371600"/>
            <a:ext cx="41148" cy="3017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1" name="Text 59"/>
          <p:cNvSpPr/>
          <p:nvPr/>
        </p:nvSpPr>
        <p:spPr>
          <a:xfrm>
            <a:off x="6425184" y="1371600"/>
            <a:ext cx="1822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T-09  </a:t>
            </a:r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진단 · 형성 · 총괄평가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8193024" y="1440180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63" name="Text 61"/>
          <p:cNvSpPr/>
          <p:nvPr/>
        </p:nvSpPr>
        <p:spPr>
          <a:xfrm>
            <a:off x="8193024" y="143103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6315456" y="1723644"/>
            <a:ext cx="2298192" cy="301752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315456" y="1723644"/>
            <a:ext cx="41148" cy="3017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6" name="Text 64"/>
          <p:cNvSpPr/>
          <p:nvPr/>
        </p:nvSpPr>
        <p:spPr>
          <a:xfrm>
            <a:off x="6425184" y="1723644"/>
            <a:ext cx="1822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T-10  </a:t>
            </a:r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채점 · 루브릭 채점 (AI)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8193024" y="1792224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68" name="Text 66"/>
          <p:cNvSpPr/>
          <p:nvPr/>
        </p:nvSpPr>
        <p:spPr>
          <a:xfrm>
            <a:off x="8193024" y="178308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457200" y="2907792"/>
            <a:ext cx="384048" cy="1828800"/>
          </a:xfrm>
          <a:prstGeom prst="roundRect">
            <a:avLst>
              <a:gd name="adj" fmla="val 11905"/>
            </a:avLst>
          </a:prstGeom>
          <a:solidFill>
            <a:srgbClr val="1E293B"/>
          </a:solidFill>
          <a:ln/>
        </p:spPr>
      </p:sp>
      <p:sp>
        <p:nvSpPr>
          <p:cNvPr id="70" name="Text 68"/>
          <p:cNvSpPr/>
          <p:nvPr/>
        </p:nvSpPr>
        <p:spPr>
          <a:xfrm>
            <a:off x="457200" y="2907792"/>
            <a:ext cx="3840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932688" y="2907792"/>
            <a:ext cx="248107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932688" y="2907792"/>
            <a:ext cx="2481072" cy="329184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73" name="Shape 71"/>
          <p:cNvSpPr/>
          <p:nvPr/>
        </p:nvSpPr>
        <p:spPr>
          <a:xfrm>
            <a:off x="932688" y="3072384"/>
            <a:ext cx="2481072" cy="1645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4" name="Text 72"/>
          <p:cNvSpPr/>
          <p:nvPr/>
        </p:nvSpPr>
        <p:spPr>
          <a:xfrm>
            <a:off x="1042416" y="2907792"/>
            <a:ext cx="2261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 </a:t>
            </a:r>
            <a:pPr algn="l" indent="0" marL="0">
              <a:buNone/>
            </a:pPr>
            <a:r>
              <a:rPr lang="en-US" sz="850" dirty="0">
                <a:solidFill>
                  <a:srgbClr val="D9E6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수업 중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1024128" y="3328416"/>
            <a:ext cx="2298192" cy="301752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24128" y="3328416"/>
            <a:ext cx="41148" cy="3017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7" name="Text 75"/>
          <p:cNvSpPr/>
          <p:nvPr/>
        </p:nvSpPr>
        <p:spPr>
          <a:xfrm>
            <a:off x="1133856" y="3328416"/>
            <a:ext cx="1822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S-01  </a:t>
            </a:r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 교과서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2901696" y="3396996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79" name="Text 77"/>
          <p:cNvSpPr/>
          <p:nvPr/>
        </p:nvSpPr>
        <p:spPr>
          <a:xfrm>
            <a:off x="2901696" y="338785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1024128" y="3680460"/>
            <a:ext cx="2298192" cy="301752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24128" y="3680460"/>
            <a:ext cx="41148" cy="3017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2" name="Text 80"/>
          <p:cNvSpPr/>
          <p:nvPr/>
        </p:nvSpPr>
        <p:spPr>
          <a:xfrm>
            <a:off x="1133856" y="3680460"/>
            <a:ext cx="1822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S-02  </a:t>
            </a:r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글쓰기·그림 그리기(저작)</a:t>
            </a:r>
            <a:pPr algn="l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*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2901696" y="3749040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84" name="Text 82"/>
          <p:cNvSpPr/>
          <p:nvPr/>
        </p:nvSpPr>
        <p:spPr>
          <a:xfrm>
            <a:off x="2901696" y="373989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1024128" y="4032504"/>
            <a:ext cx="2298192" cy="301752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24128" y="4032504"/>
            <a:ext cx="41148" cy="3017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7" name="Text 85"/>
          <p:cNvSpPr/>
          <p:nvPr/>
        </p:nvSpPr>
        <p:spPr>
          <a:xfrm>
            <a:off x="1133856" y="4032504"/>
            <a:ext cx="1822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S-03  </a:t>
            </a:r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영상 학습</a:t>
            </a:r>
            <a:pPr algn="l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*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2901696" y="4101084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89" name="Text 87"/>
          <p:cNvSpPr/>
          <p:nvPr/>
        </p:nvSpPr>
        <p:spPr>
          <a:xfrm>
            <a:off x="2901696" y="409194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1024128" y="4384548"/>
            <a:ext cx="2298192" cy="301752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24128" y="4384548"/>
            <a:ext cx="41148" cy="3017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2" name="Text 90"/>
          <p:cNvSpPr/>
          <p:nvPr/>
        </p:nvSpPr>
        <p:spPr>
          <a:xfrm>
            <a:off x="1133856" y="4384548"/>
            <a:ext cx="1822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S-04  </a:t>
            </a:r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환경(MakeCode·Entry·Python)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2901696" y="4453128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94" name="Text 92"/>
          <p:cNvSpPr/>
          <p:nvPr/>
        </p:nvSpPr>
        <p:spPr>
          <a:xfrm>
            <a:off x="2901696" y="444398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3578352" y="2907792"/>
            <a:ext cx="248107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6" name="Shape 94"/>
          <p:cNvSpPr/>
          <p:nvPr/>
        </p:nvSpPr>
        <p:spPr>
          <a:xfrm>
            <a:off x="3578352" y="2907792"/>
            <a:ext cx="2481072" cy="329184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/>
        </p:spPr>
      </p:sp>
      <p:sp>
        <p:nvSpPr>
          <p:cNvPr id="97" name="Shape 95"/>
          <p:cNvSpPr/>
          <p:nvPr/>
        </p:nvSpPr>
        <p:spPr>
          <a:xfrm>
            <a:off x="3578352" y="3072384"/>
            <a:ext cx="2481072" cy="1645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8" name="Text 96"/>
          <p:cNvSpPr/>
          <p:nvPr/>
        </p:nvSpPr>
        <p:spPr>
          <a:xfrm>
            <a:off x="3688080" y="2907792"/>
            <a:ext cx="2261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지원  </a:t>
            </a:r>
            <a:pPr algn="l" indent="0" marL="0">
              <a:buNone/>
            </a:pPr>
            <a:r>
              <a:rPr lang="en-US" sz="850" dirty="0">
                <a:solidFill>
                  <a:srgbClr val="D9E6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수업 중</a:t>
            </a:r>
            <a:endParaRPr lang="en-US" sz="1050" dirty="0"/>
          </a:p>
        </p:txBody>
      </p:sp>
      <p:sp>
        <p:nvSpPr>
          <p:cNvPr id="99" name="Shape 97"/>
          <p:cNvSpPr/>
          <p:nvPr/>
        </p:nvSpPr>
        <p:spPr>
          <a:xfrm>
            <a:off x="3669792" y="3328416"/>
            <a:ext cx="2298192" cy="301752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669792" y="3328416"/>
            <a:ext cx="41148" cy="3017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1" name="Text 99"/>
          <p:cNvSpPr/>
          <p:nvPr/>
        </p:nvSpPr>
        <p:spPr>
          <a:xfrm>
            <a:off x="3779520" y="3328416"/>
            <a:ext cx="1822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S-05  </a:t>
            </a:r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챗봇 (AI 헬피)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5547360" y="3396996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03" name="Text 101"/>
          <p:cNvSpPr/>
          <p:nvPr/>
        </p:nvSpPr>
        <p:spPr>
          <a:xfrm>
            <a:off x="5547360" y="338785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</a:t>
            </a:r>
            <a:endParaRPr lang="en-US" sz="700" dirty="0"/>
          </a:p>
        </p:txBody>
      </p:sp>
      <p:sp>
        <p:nvSpPr>
          <p:cNvPr id="104" name="Shape 102"/>
          <p:cNvSpPr/>
          <p:nvPr/>
        </p:nvSpPr>
        <p:spPr>
          <a:xfrm>
            <a:off x="3669792" y="3680460"/>
            <a:ext cx="2298192" cy="301752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669792" y="3680460"/>
            <a:ext cx="41148" cy="3017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6" name="Text 104"/>
          <p:cNvSpPr/>
          <p:nvPr/>
        </p:nvSpPr>
        <p:spPr>
          <a:xfrm>
            <a:off x="3779520" y="3680460"/>
            <a:ext cx="1822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S-06  </a:t>
            </a:r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힌트 (단계별)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5547360" y="3749040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08" name="Text 106"/>
          <p:cNvSpPr/>
          <p:nvPr/>
        </p:nvSpPr>
        <p:spPr>
          <a:xfrm>
            <a:off x="5547360" y="373989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</a:t>
            </a:r>
            <a:endParaRPr lang="en-US" sz="700" dirty="0"/>
          </a:p>
        </p:txBody>
      </p:sp>
      <p:sp>
        <p:nvSpPr>
          <p:cNvPr id="109" name="Shape 107"/>
          <p:cNvSpPr/>
          <p:nvPr/>
        </p:nvSpPr>
        <p:spPr>
          <a:xfrm>
            <a:off x="3669792" y="4032504"/>
            <a:ext cx="2298192" cy="301752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669792" y="4032504"/>
            <a:ext cx="41148" cy="3017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1" name="Text 109"/>
          <p:cNvSpPr/>
          <p:nvPr/>
        </p:nvSpPr>
        <p:spPr>
          <a:xfrm>
            <a:off x="3779520" y="4032504"/>
            <a:ext cx="1822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S-07  </a:t>
            </a:r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추천 학습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5547360" y="4101084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13" name="Text 111"/>
          <p:cNvSpPr/>
          <p:nvPr/>
        </p:nvSpPr>
        <p:spPr>
          <a:xfrm>
            <a:off x="5547360" y="409194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</a:t>
            </a:r>
            <a:endParaRPr lang="en-US" sz="700" dirty="0"/>
          </a:p>
        </p:txBody>
      </p:sp>
      <p:sp>
        <p:nvSpPr>
          <p:cNvPr id="114" name="Shape 112"/>
          <p:cNvSpPr/>
          <p:nvPr/>
        </p:nvSpPr>
        <p:spPr>
          <a:xfrm>
            <a:off x="6224016" y="2907792"/>
            <a:ext cx="248107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5" name="Shape 113"/>
          <p:cNvSpPr/>
          <p:nvPr/>
        </p:nvSpPr>
        <p:spPr>
          <a:xfrm>
            <a:off x="6224016" y="2907792"/>
            <a:ext cx="2481072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116" name="Shape 114"/>
          <p:cNvSpPr/>
          <p:nvPr/>
        </p:nvSpPr>
        <p:spPr>
          <a:xfrm>
            <a:off x="6224016" y="3072384"/>
            <a:ext cx="2481072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7" name="Text 115"/>
          <p:cNvSpPr/>
          <p:nvPr/>
        </p:nvSpPr>
        <p:spPr>
          <a:xfrm>
            <a:off x="6333744" y="2907792"/>
            <a:ext cx="2261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성장 확인  </a:t>
            </a:r>
            <a:pPr algn="l" indent="0" marL="0">
              <a:buNone/>
            </a:pPr>
            <a:r>
              <a:rPr lang="en-US" sz="850" dirty="0">
                <a:solidFill>
                  <a:srgbClr val="D9E6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수업 후</a:t>
            </a:r>
            <a:endParaRPr lang="en-US" sz="1050" dirty="0"/>
          </a:p>
        </p:txBody>
      </p:sp>
      <p:sp>
        <p:nvSpPr>
          <p:cNvPr id="118" name="Shape 116"/>
          <p:cNvSpPr/>
          <p:nvPr/>
        </p:nvSpPr>
        <p:spPr>
          <a:xfrm>
            <a:off x="6315456" y="3328416"/>
            <a:ext cx="2298192" cy="301752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315456" y="3328416"/>
            <a:ext cx="41148" cy="3017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0" name="Text 118"/>
          <p:cNvSpPr/>
          <p:nvPr/>
        </p:nvSpPr>
        <p:spPr>
          <a:xfrm>
            <a:off x="6425184" y="3328416"/>
            <a:ext cx="1822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S-08  </a:t>
            </a:r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대시보드</a:t>
            </a:r>
            <a:endParaRPr lang="en-US" sz="850" dirty="0"/>
          </a:p>
        </p:txBody>
      </p:sp>
      <p:sp>
        <p:nvSpPr>
          <p:cNvPr id="121" name="Shape 119"/>
          <p:cNvSpPr/>
          <p:nvPr/>
        </p:nvSpPr>
        <p:spPr>
          <a:xfrm>
            <a:off x="8193024" y="3396996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22" name="Text 120"/>
          <p:cNvSpPr/>
          <p:nvPr/>
        </p:nvSpPr>
        <p:spPr>
          <a:xfrm>
            <a:off x="8193024" y="338785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</a:t>
            </a:r>
            <a:endParaRPr lang="en-US" sz="700" dirty="0"/>
          </a:p>
        </p:txBody>
      </p:sp>
      <p:sp>
        <p:nvSpPr>
          <p:cNvPr id="123" name="Shape 121"/>
          <p:cNvSpPr/>
          <p:nvPr/>
        </p:nvSpPr>
        <p:spPr>
          <a:xfrm>
            <a:off x="6315456" y="3680460"/>
            <a:ext cx="2298192" cy="301752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315456" y="3680460"/>
            <a:ext cx="41148" cy="3017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5" name="Text 123"/>
          <p:cNvSpPr/>
          <p:nvPr/>
        </p:nvSpPr>
        <p:spPr>
          <a:xfrm>
            <a:off x="6425184" y="3680460"/>
            <a:ext cx="1822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S-09  </a:t>
            </a:r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오답 노트</a:t>
            </a:r>
            <a:endParaRPr lang="en-US" sz="850" dirty="0"/>
          </a:p>
        </p:txBody>
      </p:sp>
      <p:sp>
        <p:nvSpPr>
          <p:cNvPr id="126" name="Shape 124"/>
          <p:cNvSpPr/>
          <p:nvPr/>
        </p:nvSpPr>
        <p:spPr>
          <a:xfrm>
            <a:off x="8193024" y="3749040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8193024" y="373989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</a:t>
            </a:r>
            <a:endParaRPr lang="en-US" sz="700" dirty="0"/>
          </a:p>
        </p:txBody>
      </p:sp>
      <p:sp>
        <p:nvSpPr>
          <p:cNvPr id="128" name="Shape 126"/>
          <p:cNvSpPr/>
          <p:nvPr/>
        </p:nvSpPr>
        <p:spPr>
          <a:xfrm>
            <a:off x="6315456" y="4032504"/>
            <a:ext cx="2298192" cy="301752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315456" y="4032504"/>
            <a:ext cx="41148" cy="3017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0" name="Text 128"/>
          <p:cNvSpPr/>
          <p:nvPr/>
        </p:nvSpPr>
        <p:spPr>
          <a:xfrm>
            <a:off x="6425184" y="4032504"/>
            <a:ext cx="1822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S-10  </a:t>
            </a:r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성취도 분석</a:t>
            </a:r>
            <a:endParaRPr lang="en-US" sz="850" dirty="0"/>
          </a:p>
        </p:txBody>
      </p:sp>
      <p:sp>
        <p:nvSpPr>
          <p:cNvPr id="131" name="Shape 129"/>
          <p:cNvSpPr/>
          <p:nvPr/>
        </p:nvSpPr>
        <p:spPr>
          <a:xfrm>
            <a:off x="8193024" y="4101084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32" name="Text 130"/>
          <p:cNvSpPr/>
          <p:nvPr/>
        </p:nvSpPr>
        <p:spPr>
          <a:xfrm>
            <a:off x="8193024" y="409194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</a:t>
            </a:r>
            <a:endParaRPr lang="en-US" sz="700" dirty="0"/>
          </a:p>
        </p:txBody>
      </p:sp>
      <p:sp>
        <p:nvSpPr>
          <p:cNvPr id="133" name="Text 131"/>
          <p:cNvSpPr/>
          <p:nvPr/>
        </p:nvSpPr>
        <p:spPr>
          <a:xfrm>
            <a:off x="457200" y="48463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 17 · 선택 3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(T-03 · T-07 · S-09)      </a:t>
            </a:r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S-02 · S-03 필수/선택 확정 예정</a:t>
            </a:r>
            <a:endParaRPr lang="en-US" sz="950" dirty="0"/>
          </a:p>
        </p:txBody>
      </p:sp>
      <p:sp>
        <p:nvSpPr>
          <p:cNvPr id="134" name="Shape 132"/>
          <p:cNvSpPr/>
          <p:nvPr/>
        </p:nvSpPr>
        <p:spPr>
          <a:xfrm>
            <a:off x="7315200" y="4924044"/>
            <a:ext cx="100584" cy="10058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5" name="Text 133"/>
          <p:cNvSpPr/>
          <p:nvPr/>
        </p:nvSpPr>
        <p:spPr>
          <a:xfrm>
            <a:off x="7434072" y="484632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전</a:t>
            </a:r>
            <a:endParaRPr lang="en-US" sz="800" dirty="0"/>
          </a:p>
        </p:txBody>
      </p:sp>
      <p:sp>
        <p:nvSpPr>
          <p:cNvPr id="136" name="Shape 134"/>
          <p:cNvSpPr/>
          <p:nvPr/>
        </p:nvSpPr>
        <p:spPr>
          <a:xfrm>
            <a:off x="7882128" y="4924044"/>
            <a:ext cx="100584" cy="1005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7" name="Text 135"/>
          <p:cNvSpPr/>
          <p:nvPr/>
        </p:nvSpPr>
        <p:spPr>
          <a:xfrm>
            <a:off x="8001000" y="484632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중</a:t>
            </a:r>
            <a:endParaRPr lang="en-US" sz="800" dirty="0"/>
          </a:p>
        </p:txBody>
      </p:sp>
      <p:sp>
        <p:nvSpPr>
          <p:cNvPr id="138" name="Shape 136"/>
          <p:cNvSpPr/>
          <p:nvPr/>
        </p:nvSpPr>
        <p:spPr>
          <a:xfrm>
            <a:off x="8449056" y="492404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9" name="Text 137"/>
          <p:cNvSpPr/>
          <p:nvPr/>
        </p:nvSpPr>
        <p:spPr>
          <a:xfrm>
            <a:off x="8567928" y="484632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후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58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  </a:t>
            </a:r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 명세서 요약  —  교사 · 수업 준비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0" y="2468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AI 학습 플랫폼 기획안  |  2. 서비스 기획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38912" y="822960"/>
            <a:ext cx="2103120" cy="32918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8912" y="822960"/>
            <a:ext cx="2103120" cy="38404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438912" y="1024128"/>
            <a:ext cx="2103120" cy="182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822960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T-01  </a:t>
            </a:r>
            <a:pPr algn="l" indent="0" marL="0">
              <a:buNone/>
            </a:pPr>
            <a:r>
              <a:rPr lang="en-US" sz="900" dirty="0">
                <a:solidFill>
                  <a:srgbClr val="D9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261872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이력 조회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0352" y="1700784"/>
            <a:ext cx="1920240" cy="77724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17190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동작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21792" y="190195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반별/학생별 학습 기록(진도·취약·성취도)을 수업 전 한눈에 조회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256032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세부 기능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03504" y="2857500"/>
            <a:ext cx="64008" cy="640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2798064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진도율 시각화 차트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03504" y="3150108"/>
            <a:ext cx="64008" cy="640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09067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취약 영역 자동 표시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03504" y="3442716"/>
            <a:ext cx="64008" cy="640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38328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성취도 수치 확인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30352" y="3730752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EBF5FB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37307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</a:t>
            </a:r>
            <a:pPr algn="ctr" indent="0" marL="0">
              <a:buNone/>
            </a:pPr>
            <a:r>
              <a:rPr lang="en-US" sz="85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교사 대시보드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06624" y="822960"/>
            <a:ext cx="2103120" cy="32918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06624" y="822960"/>
            <a:ext cx="2103120" cy="38404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23" name="Shape 21"/>
          <p:cNvSpPr/>
          <p:nvPr/>
        </p:nvSpPr>
        <p:spPr>
          <a:xfrm>
            <a:off x="2706624" y="1024128"/>
            <a:ext cx="2103120" cy="182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2816352" y="822960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T-02  </a:t>
            </a:r>
            <a:pPr algn="l" indent="0" marL="0">
              <a:buNone/>
            </a:pPr>
            <a:r>
              <a:rPr lang="en-US" sz="900" dirty="0">
                <a:solidFill>
                  <a:srgbClr val="D9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816352" y="1261872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학습 분석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798064" y="1700784"/>
            <a:ext cx="1920240" cy="77724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2889504" y="17190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동작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889504" y="190195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이력 데이터를 AI가 분석해 성취도 리포트와 취약 영역 목록 제공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816352" y="256032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세부 기능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871216" y="2857500"/>
            <a:ext cx="64008" cy="640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2980944" y="2798064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성취도 분석 리포트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871216" y="3150108"/>
            <a:ext cx="64008" cy="640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2980944" y="309067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반별/학생별 취약 영역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871216" y="3442716"/>
            <a:ext cx="64008" cy="640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2980944" y="338328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계획 반영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98064" y="3730752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EBF5FB"/>
          </a:solidFill>
          <a:ln/>
        </p:spPr>
      </p:sp>
      <p:sp>
        <p:nvSpPr>
          <p:cNvPr id="37" name="Text 35"/>
          <p:cNvSpPr/>
          <p:nvPr/>
        </p:nvSpPr>
        <p:spPr>
          <a:xfrm>
            <a:off x="2798064" y="37307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</a:t>
            </a:r>
            <a:pPr algn="ctr" indent="0" marL="0">
              <a:buNone/>
            </a:pPr>
            <a:r>
              <a:rPr lang="en-US" sz="85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교사 대시보드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974336" y="822960"/>
            <a:ext cx="2103120" cy="32918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974336" y="822960"/>
            <a:ext cx="2103120" cy="38404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40" name="Shape 38"/>
          <p:cNvSpPr/>
          <p:nvPr/>
        </p:nvSpPr>
        <p:spPr>
          <a:xfrm>
            <a:off x="4974336" y="1024128"/>
            <a:ext cx="2103120" cy="182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1" name="Text 39"/>
          <p:cNvSpPr/>
          <p:nvPr/>
        </p:nvSpPr>
        <p:spPr>
          <a:xfrm>
            <a:off x="5084064" y="822960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T-03  </a:t>
            </a:r>
            <a:pPr algn="l" indent="0" marL="0">
              <a:buNone/>
            </a:pPr>
            <a:r>
              <a:rPr lang="en-US" sz="900" dirty="0">
                <a:solidFill>
                  <a:srgbClr val="FFE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84064" y="1261872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콘텐츠 라이브러리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065776" y="1700784"/>
            <a:ext cx="1920240" cy="77724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/>
        </p:spPr>
      </p:sp>
      <p:sp>
        <p:nvSpPr>
          <p:cNvPr id="44" name="Text 42"/>
          <p:cNvSpPr/>
          <p:nvPr/>
        </p:nvSpPr>
        <p:spPr>
          <a:xfrm>
            <a:off x="5157216" y="17190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동작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157216" y="190195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교과 자료를 검색·저장·공유할 수 있는 자료 저장소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084064" y="256032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세부 기능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5138928" y="2857500"/>
            <a:ext cx="64008" cy="640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8" name="Text 46"/>
          <p:cNvSpPr/>
          <p:nvPr/>
        </p:nvSpPr>
        <p:spPr>
          <a:xfrm>
            <a:off x="5248656" y="2798064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자료 검색·필터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138928" y="3150108"/>
            <a:ext cx="64008" cy="640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0" name="Text 48"/>
          <p:cNvSpPr/>
          <p:nvPr/>
        </p:nvSpPr>
        <p:spPr>
          <a:xfrm>
            <a:off x="5248656" y="309067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즐겨찾기/컬렉션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138928" y="3442716"/>
            <a:ext cx="64008" cy="640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2" name="Text 50"/>
          <p:cNvSpPr/>
          <p:nvPr/>
        </p:nvSpPr>
        <p:spPr>
          <a:xfrm>
            <a:off x="5248656" y="338328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공유 라이브러리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065776" y="3730752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EBF5FB"/>
          </a:solidFill>
          <a:ln/>
        </p:spPr>
      </p:sp>
      <p:sp>
        <p:nvSpPr>
          <p:cNvPr id="54" name="Text 52"/>
          <p:cNvSpPr/>
          <p:nvPr/>
        </p:nvSpPr>
        <p:spPr>
          <a:xfrm>
            <a:off x="5065776" y="37307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</a:t>
            </a:r>
            <a:pPr algn="ctr" indent="0" marL="0">
              <a:buNone/>
            </a:pPr>
            <a:r>
              <a:rPr lang="en-US" sz="85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자료실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242048" y="822960"/>
            <a:ext cx="2103120" cy="32918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7242048" y="822960"/>
            <a:ext cx="2103120" cy="38404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57" name="Shape 55"/>
          <p:cNvSpPr/>
          <p:nvPr/>
        </p:nvSpPr>
        <p:spPr>
          <a:xfrm>
            <a:off x="7242048" y="1024128"/>
            <a:ext cx="2103120" cy="182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8" name="Text 56"/>
          <p:cNvSpPr/>
          <p:nvPr/>
        </p:nvSpPr>
        <p:spPr>
          <a:xfrm>
            <a:off x="7351776" y="822960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T-04  </a:t>
            </a:r>
            <a:pPr algn="l" indent="0" marL="0">
              <a:buNone/>
            </a:pPr>
            <a:r>
              <a:rPr lang="en-US" sz="900" dirty="0">
                <a:solidFill>
                  <a:srgbClr val="D9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351776" y="1261872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자료 재구성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7333488" y="1700784"/>
            <a:ext cx="1920240" cy="77724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/>
        </p:spPr>
      </p:sp>
      <p:sp>
        <p:nvSpPr>
          <p:cNvPr id="61" name="Text 59"/>
          <p:cNvSpPr/>
          <p:nvPr/>
        </p:nvSpPr>
        <p:spPr>
          <a:xfrm>
            <a:off x="7424928" y="17190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동작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424928" y="190195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자료 편집 또는 신규 자료 생성(HTML·영상·실습·문항 등)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7351776" y="256032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세부 기능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7406640" y="2857500"/>
            <a:ext cx="64008" cy="640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5" name="Text 63"/>
          <p:cNvSpPr/>
          <p:nvPr/>
        </p:nvSpPr>
        <p:spPr>
          <a:xfrm>
            <a:off x="7516368" y="2798064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자료 유형 선택·편집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7406640" y="3150108"/>
            <a:ext cx="64008" cy="640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7" name="Text 65"/>
          <p:cNvSpPr/>
          <p:nvPr/>
        </p:nvSpPr>
        <p:spPr>
          <a:xfrm>
            <a:off x="7516368" y="309067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순서 변경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7406640" y="3442716"/>
            <a:ext cx="64008" cy="640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9" name="Text 67"/>
          <p:cNvSpPr/>
          <p:nvPr/>
        </p:nvSpPr>
        <p:spPr>
          <a:xfrm>
            <a:off x="7516368" y="338328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저장·배포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7333488" y="3730752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EBF5FB"/>
          </a:solidFill>
          <a:ln/>
        </p:spPr>
      </p:sp>
      <p:sp>
        <p:nvSpPr>
          <p:cNvPr id="71" name="Text 69"/>
          <p:cNvSpPr/>
          <p:nvPr/>
        </p:nvSpPr>
        <p:spPr>
          <a:xfrm>
            <a:off x="7333488" y="37307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</a:t>
            </a:r>
            <a:pPr algn="ctr" indent="0" marL="0">
              <a:buNone/>
            </a:pPr>
            <a:r>
              <a:rPr lang="en-US" sz="85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교과서 (자료 편집 화면)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38912" y="4892040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73" name="Text 71"/>
          <p:cNvSpPr/>
          <p:nvPr/>
        </p:nvSpPr>
        <p:spPr>
          <a:xfrm>
            <a:off x="438912" y="48920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전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1554480" y="4919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준비 단계 4개 기능 · 필수 3 · 선택 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58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  </a:t>
            </a:r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교사 수업운영 · 평가분석  기능 명세서 요약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0" y="2468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AI 학습 플랫폼 기획안  |  2. 서비스 기획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38912" y="804672"/>
            <a:ext cx="210312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8912" y="804672"/>
            <a:ext cx="2103120" cy="329184"/>
          </a:xfrm>
          <a:prstGeom prst="roundRect">
            <a:avLst>
              <a:gd name="adj" fmla="val 19444"/>
            </a:avLst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438912" y="969264"/>
            <a:ext cx="2103120" cy="1645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804672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T-05  </a:t>
            </a:r>
            <a:pPr algn="l" indent="0" marL="0">
              <a:buNone/>
            </a:pPr>
            <a:r>
              <a:rPr lang="en-US" sz="850" dirty="0">
                <a:solidFill>
                  <a:srgbClr val="D9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동기화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1572768"/>
            <a:ext cx="1920240" cy="658368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160020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동작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21792" y="177393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교사 화면을 학생 디바이스로 실시간 강제 전송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530352" y="2505456"/>
            <a:ext cx="1920240" cy="228600"/>
          </a:xfrm>
          <a:prstGeom prst="roundRect">
            <a:avLst>
              <a:gd name="adj" fmla="val 52000"/>
            </a:avLst>
          </a:prstGeom>
          <a:solidFill>
            <a:srgbClr val="EBF5FB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" y="250545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</a:t>
            </a:r>
            <a:pPr algn="ctr" indent="0" marL="0">
              <a:buNone/>
            </a:pPr>
            <a:r>
              <a:rPr lang="en-US" sz="75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모니터링 (도구바)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06624" y="804672"/>
            <a:ext cx="210312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06624" y="804672"/>
            <a:ext cx="2103120" cy="329184"/>
          </a:xfrm>
          <a:prstGeom prst="roundRect">
            <a:avLst>
              <a:gd name="adj" fmla="val 19444"/>
            </a:avLst>
          </a:prstGeom>
          <a:solidFill>
            <a:srgbClr val="065A82"/>
          </a:solidFill>
          <a:ln/>
        </p:spPr>
      </p:sp>
      <p:sp>
        <p:nvSpPr>
          <p:cNvPr id="16" name="Shape 14"/>
          <p:cNvSpPr/>
          <p:nvPr/>
        </p:nvSpPr>
        <p:spPr>
          <a:xfrm>
            <a:off x="2706624" y="969264"/>
            <a:ext cx="2103120" cy="1645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2816352" y="804672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T-06  </a:t>
            </a:r>
            <a:pPr algn="l" indent="0" marL="0">
              <a:buNone/>
            </a:pPr>
            <a:r>
              <a:rPr lang="en-US" sz="850" dirty="0">
                <a:solidFill>
                  <a:srgbClr val="D9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816352" y="1188720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학생 화면 모니터링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98064" y="1572768"/>
            <a:ext cx="1920240" cy="658368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2889504" y="160020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동작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889504" y="177393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 전체 학생 화면을 썸네일 그리드로 실시간 확인·개별 확대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2798064" y="2505456"/>
            <a:ext cx="1920240" cy="228600"/>
          </a:xfrm>
          <a:prstGeom prst="roundRect">
            <a:avLst>
              <a:gd name="adj" fmla="val 52000"/>
            </a:avLst>
          </a:prstGeom>
          <a:solidFill>
            <a:srgbClr val="EBF5FB"/>
          </a:solidFill>
          <a:ln/>
        </p:spPr>
      </p:sp>
      <p:sp>
        <p:nvSpPr>
          <p:cNvPr id="23" name="Text 21"/>
          <p:cNvSpPr/>
          <p:nvPr/>
        </p:nvSpPr>
        <p:spPr>
          <a:xfrm>
            <a:off x="2798064" y="250545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</a:t>
            </a:r>
            <a:pPr algn="ctr" indent="0" marL="0">
              <a:buNone/>
            </a:pPr>
            <a:r>
              <a:rPr lang="en-US" sz="75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모니터링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974336" y="804672"/>
            <a:ext cx="210312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74336" y="804672"/>
            <a:ext cx="2103120" cy="329184"/>
          </a:xfrm>
          <a:prstGeom prst="roundRect">
            <a:avLst>
              <a:gd name="adj" fmla="val 19444"/>
            </a:avLst>
          </a:prstGeom>
          <a:solidFill>
            <a:srgbClr val="065A82"/>
          </a:solidFill>
          <a:ln/>
        </p:spPr>
      </p:sp>
      <p:sp>
        <p:nvSpPr>
          <p:cNvPr id="26" name="Shape 24"/>
          <p:cNvSpPr/>
          <p:nvPr/>
        </p:nvSpPr>
        <p:spPr>
          <a:xfrm>
            <a:off x="4974336" y="969264"/>
            <a:ext cx="2103120" cy="1645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5084064" y="804672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T-07  </a:t>
            </a:r>
            <a:pPr algn="l" indent="0" marL="0">
              <a:buNone/>
            </a:pPr>
            <a:r>
              <a:rPr lang="en-US" sz="850" dirty="0">
                <a:solidFill>
                  <a:srgbClr val="FFE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84064" y="1188720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조별 활동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65776" y="1572768"/>
            <a:ext cx="1920240" cy="658368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/>
        </p:spPr>
      </p:sp>
      <p:sp>
        <p:nvSpPr>
          <p:cNvPr id="30" name="Text 28"/>
          <p:cNvSpPr/>
          <p:nvPr/>
        </p:nvSpPr>
        <p:spPr>
          <a:xfrm>
            <a:off x="5157216" y="160020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동작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157216" y="177393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자동/수동 조 편성 후 조별 과제·자료 배정 및 진행 확인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5065776" y="2505456"/>
            <a:ext cx="1920240" cy="228600"/>
          </a:xfrm>
          <a:prstGeom prst="roundRect">
            <a:avLst>
              <a:gd name="adj" fmla="val 52000"/>
            </a:avLst>
          </a:prstGeom>
          <a:solidFill>
            <a:srgbClr val="EBF5FB"/>
          </a:solidFill>
          <a:ln/>
        </p:spPr>
      </p:sp>
      <p:sp>
        <p:nvSpPr>
          <p:cNvPr id="33" name="Text 31"/>
          <p:cNvSpPr/>
          <p:nvPr/>
        </p:nvSpPr>
        <p:spPr>
          <a:xfrm>
            <a:off x="5065776" y="250545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</a:t>
            </a:r>
            <a:pPr algn="ctr" indent="0" marL="0">
              <a:buNone/>
            </a:pPr>
            <a:r>
              <a:rPr lang="en-US" sz="75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모니터링 (조별 보기)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242048" y="804672"/>
            <a:ext cx="210312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242048" y="804672"/>
            <a:ext cx="2103120" cy="329184"/>
          </a:xfrm>
          <a:prstGeom prst="roundRect">
            <a:avLst>
              <a:gd name="adj" fmla="val 19444"/>
            </a:avLst>
          </a:prstGeom>
          <a:solidFill>
            <a:srgbClr val="065A82"/>
          </a:solidFill>
          <a:ln/>
        </p:spPr>
      </p:sp>
      <p:sp>
        <p:nvSpPr>
          <p:cNvPr id="36" name="Shape 34"/>
          <p:cNvSpPr/>
          <p:nvPr/>
        </p:nvSpPr>
        <p:spPr>
          <a:xfrm>
            <a:off x="7242048" y="969264"/>
            <a:ext cx="2103120" cy="1645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7" name="Text 35"/>
          <p:cNvSpPr/>
          <p:nvPr/>
        </p:nvSpPr>
        <p:spPr>
          <a:xfrm>
            <a:off x="7351776" y="804672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T-08  </a:t>
            </a:r>
            <a:pPr algn="l" indent="0" marL="0">
              <a:buNone/>
            </a:pPr>
            <a:r>
              <a:rPr lang="en-US" sz="850" dirty="0">
                <a:solidFill>
                  <a:srgbClr val="D9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351776" y="1188720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튜터링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333488" y="1572768"/>
            <a:ext cx="1920240" cy="658368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/>
        </p:spPr>
      </p:sp>
      <p:sp>
        <p:nvSpPr>
          <p:cNvPr id="40" name="Text 38"/>
          <p:cNvSpPr/>
          <p:nvPr/>
        </p:nvSpPr>
        <p:spPr>
          <a:xfrm>
            <a:off x="7424928" y="160020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동작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7424928" y="177393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2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모니터링 화면에서 학생 선택 후 화면에 직접 코멘트·메시지 전송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7333488" y="2505456"/>
            <a:ext cx="1920240" cy="228600"/>
          </a:xfrm>
          <a:prstGeom prst="roundRect">
            <a:avLst>
              <a:gd name="adj" fmla="val 52000"/>
            </a:avLst>
          </a:prstGeom>
          <a:solidFill>
            <a:srgbClr val="EBF5FB"/>
          </a:solidFill>
          <a:ln/>
        </p:spPr>
      </p:sp>
      <p:sp>
        <p:nvSpPr>
          <p:cNvPr id="43" name="Text 41"/>
          <p:cNvSpPr/>
          <p:nvPr/>
        </p:nvSpPr>
        <p:spPr>
          <a:xfrm>
            <a:off x="7333488" y="250545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</a:t>
            </a:r>
            <a:pPr algn="ctr" indent="0" marL="0">
              <a:buNone/>
            </a:pPr>
            <a:r>
              <a:rPr lang="en-US" sz="75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모니터링 (확대 보기)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38912" y="2962656"/>
            <a:ext cx="8275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38912" y="2880360"/>
            <a:ext cx="1508760" cy="18288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46" name="Text 44"/>
          <p:cNvSpPr/>
          <p:nvPr/>
        </p:nvSpPr>
        <p:spPr>
          <a:xfrm>
            <a:off x="438912" y="28803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 · 분석  (수업 중·후)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38912" y="3035808"/>
            <a:ext cx="427482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585216" y="3127248"/>
            <a:ext cx="21374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T-09  </a:t>
            </a:r>
            <a:pPr algn="l" indent="0" marL="0">
              <a:buNone/>
            </a:pPr>
            <a:r>
              <a:rPr lang="en-US" sz="850" dirty="0">
                <a:solidFill>
                  <a:srgbClr val="FFE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85216" y="3383280"/>
            <a:ext cx="23511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진단 · 형성 · 총괄평가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585216" y="3694176"/>
            <a:ext cx="19545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 유형별 문항 구성·배포, 응시 현황 실시간 확인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753258" y="3145536"/>
            <a:ext cx="18690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 유형 선택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2753258" y="3474720"/>
            <a:ext cx="18690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 제한 배포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2753258" y="3803904"/>
            <a:ext cx="18690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응시 현황 실시간 확인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30352" y="4636008"/>
            <a:ext cx="1645920" cy="201168"/>
          </a:xfrm>
          <a:prstGeom prst="roundRect">
            <a:avLst>
              <a:gd name="adj" fmla="val 50000"/>
            </a:avLst>
          </a:prstGeom>
          <a:solidFill>
            <a:srgbClr val="EBF5FB"/>
          </a:solidFill>
          <a:ln/>
        </p:spPr>
      </p:sp>
      <p:sp>
        <p:nvSpPr>
          <p:cNvPr id="55" name="Text 53"/>
          <p:cNvSpPr/>
          <p:nvPr/>
        </p:nvSpPr>
        <p:spPr>
          <a:xfrm>
            <a:off x="530352" y="46360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</a:t>
            </a:r>
            <a:pPr algn="ctr" indent="0" marL="0">
              <a:buNone/>
            </a:pPr>
            <a:r>
              <a:rPr lang="en-US" sz="75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878324" y="3035808"/>
            <a:ext cx="4274820" cy="1874520"/>
          </a:xfrm>
          <a:prstGeom prst="roundRect">
            <a:avLst>
              <a:gd name="adj" fmla="val 341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5024628" y="3127248"/>
            <a:ext cx="21374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T-10  </a:t>
            </a:r>
            <a:pPr algn="l" indent="0" marL="0">
              <a:buNone/>
            </a:pPr>
            <a:r>
              <a:rPr lang="en-US" sz="850" dirty="0">
                <a:solidFill>
                  <a:srgbClr val="D9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024628" y="3383280"/>
            <a:ext cx="23511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채점 · 루브릭 채점 (AI)</a:t>
            </a:r>
            <a:endParaRPr lang="en-US" sz="1250" dirty="0"/>
          </a:p>
        </p:txBody>
      </p:sp>
      <p:sp>
        <p:nvSpPr>
          <p:cNvPr id="59" name="Text 57"/>
          <p:cNvSpPr/>
          <p:nvPr/>
        </p:nvSpPr>
        <p:spPr>
          <a:xfrm>
            <a:off x="5024628" y="3694176"/>
            <a:ext cx="19545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D1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객관식·서술형·실습 코드 루브릭 AI 채점, 교사 최종 확정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192670" y="3145536"/>
            <a:ext cx="18690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94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객관식 자동 채점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7192670" y="3474720"/>
            <a:ext cx="18690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94B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서술형 AI 초안 → 교사 확정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192670" y="3803904"/>
            <a:ext cx="18690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8FE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실습 루브릭 AI 채점 → 교사 확정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969764" y="4636008"/>
            <a:ext cx="1645920" cy="201168"/>
          </a:xfrm>
          <a:prstGeom prst="roundRect">
            <a:avLst>
              <a:gd name="adj" fmla="val 50000"/>
            </a:avLst>
          </a:prstGeom>
          <a:solidFill>
            <a:srgbClr val="EBF5FB"/>
          </a:solidFill>
          <a:ln/>
        </p:spPr>
      </p:sp>
      <p:sp>
        <p:nvSpPr>
          <p:cNvPr id="64" name="Text 62"/>
          <p:cNvSpPr/>
          <p:nvPr/>
        </p:nvSpPr>
        <p:spPr>
          <a:xfrm>
            <a:off x="4969764" y="46360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</a:t>
            </a:r>
            <a:pPr algn="ctr" indent="0" marL="0">
              <a:buNone/>
            </a:pPr>
            <a:r>
              <a:rPr lang="en-US" sz="75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 (채점 탭)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1554480" y="49377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운영 · 평가·분석 단계 6개 기능 · 필수 5 · 선택 1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38912" y="4901184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67" name="Text 65"/>
          <p:cNvSpPr/>
          <p:nvPr/>
        </p:nvSpPr>
        <p:spPr>
          <a:xfrm>
            <a:off x="438912" y="49011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중·후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58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  </a:t>
            </a:r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 명세서 요약  —  학생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0" y="2468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AI 학습 플랫폼 기획안  |  2. 서비스 기획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38912" y="804672"/>
            <a:ext cx="3493008" cy="329184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04672"/>
            <a:ext cx="174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8912" y="1188720"/>
            <a:ext cx="3493008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261872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2618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S-01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33272" y="1243584"/>
            <a:ext cx="2715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 교과서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29000" y="1271016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26187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30352" y="1499616"/>
            <a:ext cx="3310128" cy="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" y="1517904"/>
            <a:ext cx="3310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교과서 탐색·북마크·하이라이트·메모·음성 읽기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30352" y="1682496"/>
            <a:ext cx="3310128" cy="182880"/>
          </a:xfrm>
          <a:prstGeom prst="roundRect">
            <a:avLst>
              <a:gd name="adj" fmla="val 50000"/>
            </a:avLst>
          </a:prstGeom>
          <a:solidFill>
            <a:srgbClr val="EBF5FB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1682496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</a:t>
            </a:r>
            <a:pPr algn="ctr" indent="0" marL="0">
              <a:buNone/>
            </a:pPr>
            <a:r>
              <a:rPr lang="en-US" sz="7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교과서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38912" y="2011680"/>
            <a:ext cx="3493008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0352" y="2084832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20848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S-02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033272" y="2066544"/>
            <a:ext cx="2715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글쓰기·그림 그리기(저작)</a:t>
            </a:r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*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29000" y="2093976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3429000" y="20848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30352" y="2322576"/>
            <a:ext cx="3310128" cy="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2340864"/>
            <a:ext cx="3310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교과서 위에 텍스트/펜/도형 저작, 자동 저장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30352" y="2505456"/>
            <a:ext cx="3310128" cy="182880"/>
          </a:xfrm>
          <a:prstGeom prst="roundRect">
            <a:avLst>
              <a:gd name="adj" fmla="val 50000"/>
            </a:avLst>
          </a:prstGeom>
          <a:solidFill>
            <a:srgbClr val="EBF5FB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" y="2505456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</a:t>
            </a:r>
            <a:pPr algn="ctr" indent="0" marL="0">
              <a:buNone/>
            </a:pPr>
            <a:r>
              <a:rPr lang="en-US" sz="7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교과서 (저작 도구바)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38912" y="2834640"/>
            <a:ext cx="3493008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30352" y="2907792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" y="29077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S-03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033272" y="2889504"/>
            <a:ext cx="2715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영상 학습</a:t>
            </a:r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*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29000" y="2916936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3429000" y="290779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530352" y="3145536"/>
            <a:ext cx="3310128" cy="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Text 31"/>
          <p:cNvSpPr/>
          <p:nvPr/>
        </p:nvSpPr>
        <p:spPr>
          <a:xfrm>
            <a:off x="530352" y="3163824"/>
            <a:ext cx="3310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구간 반복·속도·자막 영상 시청, 완료 이력 자동 기록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30352" y="3328416"/>
            <a:ext cx="3310128" cy="182880"/>
          </a:xfrm>
          <a:prstGeom prst="roundRect">
            <a:avLst>
              <a:gd name="adj" fmla="val 50000"/>
            </a:avLst>
          </a:prstGeom>
          <a:solidFill>
            <a:srgbClr val="EBF5FB"/>
          </a:solidFill>
          <a:ln/>
        </p:spPr>
      </p:sp>
      <p:sp>
        <p:nvSpPr>
          <p:cNvPr id="35" name="Text 33"/>
          <p:cNvSpPr/>
          <p:nvPr/>
        </p:nvSpPr>
        <p:spPr>
          <a:xfrm>
            <a:off x="530352" y="3328416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</a:t>
            </a:r>
            <a:pPr algn="ctr" indent="0" marL="0">
              <a:buNone/>
            </a:pPr>
            <a:r>
              <a:rPr lang="en-US" sz="7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교과서 (영상 콘텐츠)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38912" y="3657600"/>
            <a:ext cx="3493008" cy="731520"/>
          </a:xfrm>
          <a:prstGeom prst="roundRect">
            <a:avLst>
              <a:gd name="adj" fmla="val 6250"/>
            </a:avLst>
          </a:prstGeom>
          <a:solidFill>
            <a:srgbClr val="EBF5FB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30352" y="3730752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38" name="Text 36"/>
          <p:cNvSpPr/>
          <p:nvPr/>
        </p:nvSpPr>
        <p:spPr>
          <a:xfrm>
            <a:off x="530352" y="37307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S-04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033272" y="3712464"/>
            <a:ext cx="2715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환경</a:t>
            </a:r>
            <a:pPr algn="l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★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429000" y="3739896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41" name="Text 39"/>
          <p:cNvSpPr/>
          <p:nvPr/>
        </p:nvSpPr>
        <p:spPr>
          <a:xfrm>
            <a:off x="3429000" y="373075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530352" y="3968496"/>
            <a:ext cx="3310128" cy="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3" name="Text 41"/>
          <p:cNvSpPr/>
          <p:nvPr/>
        </p:nvSpPr>
        <p:spPr>
          <a:xfrm>
            <a:off x="530352" y="3986784"/>
            <a:ext cx="3310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MakeCode·Entry·Python 에디터 임베드, 결과 저장·제출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30352" y="4151376"/>
            <a:ext cx="3310128" cy="182880"/>
          </a:xfrm>
          <a:prstGeom prst="roundRect">
            <a:avLst>
              <a:gd name="adj" fmla="val 50000"/>
            </a:avLst>
          </a:prstGeom>
          <a:solidFill>
            <a:srgbClr val="EBF5FB"/>
          </a:solidFill>
          <a:ln/>
        </p:spPr>
      </p:sp>
      <p:sp>
        <p:nvSpPr>
          <p:cNvPr id="45" name="Text 43"/>
          <p:cNvSpPr/>
          <p:nvPr/>
        </p:nvSpPr>
        <p:spPr>
          <a:xfrm>
            <a:off x="530352" y="4151376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</a:t>
            </a:r>
            <a:pPr algn="ctr" indent="0" marL="0">
              <a:buNone/>
            </a:pPr>
            <a:r>
              <a:rPr lang="en-US" sz="7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(교과서 내)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005072" y="804672"/>
            <a:ext cx="2505456" cy="329184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/>
        </p:spPr>
      </p:sp>
      <p:sp>
        <p:nvSpPr>
          <p:cNvPr id="47" name="Text 45"/>
          <p:cNvSpPr/>
          <p:nvPr/>
        </p:nvSpPr>
        <p:spPr>
          <a:xfrm>
            <a:off x="4114800" y="804672"/>
            <a:ext cx="1252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지원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005072" y="1188720"/>
            <a:ext cx="2505456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096512" y="1261872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50" name="Text 48"/>
          <p:cNvSpPr/>
          <p:nvPr/>
        </p:nvSpPr>
        <p:spPr>
          <a:xfrm>
            <a:off x="4096512" y="12618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S-05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599432" y="1243584"/>
            <a:ext cx="1728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챗봇 (AI 헬피)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007608" y="1271016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53" name="Text 51"/>
          <p:cNvSpPr/>
          <p:nvPr/>
        </p:nvSpPr>
        <p:spPr>
          <a:xfrm>
            <a:off x="6007608" y="126187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4096512" y="1499616"/>
            <a:ext cx="2322576" cy="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5" name="Text 53"/>
          <p:cNvSpPr/>
          <p:nvPr/>
        </p:nvSpPr>
        <p:spPr>
          <a:xfrm>
            <a:off x="4096512" y="1517904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질문 자유 대화, 교사 설정 답변 범위 내 응답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096512" y="1956816"/>
            <a:ext cx="2322576" cy="182880"/>
          </a:xfrm>
          <a:prstGeom prst="roundRect">
            <a:avLst>
              <a:gd name="adj" fmla="val 50000"/>
            </a:avLst>
          </a:prstGeom>
          <a:solidFill>
            <a:srgbClr val="EBF5FB"/>
          </a:solidFill>
          <a:ln/>
        </p:spPr>
      </p:sp>
      <p:sp>
        <p:nvSpPr>
          <p:cNvPr id="57" name="Text 55"/>
          <p:cNvSpPr/>
          <p:nvPr/>
        </p:nvSpPr>
        <p:spPr>
          <a:xfrm>
            <a:off x="4096512" y="1956816"/>
            <a:ext cx="2322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</a:t>
            </a:r>
            <a:pPr algn="ctr" indent="0" marL="0">
              <a:buNone/>
            </a:pPr>
            <a:r>
              <a:rPr lang="en-US" sz="7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교과서·실습 (AI 패널)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4005072" y="2286000"/>
            <a:ext cx="2505456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096512" y="2359152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60" name="Text 58"/>
          <p:cNvSpPr/>
          <p:nvPr/>
        </p:nvSpPr>
        <p:spPr>
          <a:xfrm>
            <a:off x="4096512" y="23591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S-06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4599432" y="2340864"/>
            <a:ext cx="1728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힌트 (단계별)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007608" y="2368296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63" name="Text 61"/>
          <p:cNvSpPr/>
          <p:nvPr/>
        </p:nvSpPr>
        <p:spPr>
          <a:xfrm>
            <a:off x="6007608" y="235915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4096512" y="2596896"/>
            <a:ext cx="2322576" cy="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5" name="Text 63"/>
          <p:cNvSpPr/>
          <p:nvPr/>
        </p:nvSpPr>
        <p:spPr>
          <a:xfrm>
            <a:off x="4096512" y="2615184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단계별 힌트 점진 공개, 힌트 이력 교사 확인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096512" y="3054096"/>
            <a:ext cx="2322576" cy="182880"/>
          </a:xfrm>
          <a:prstGeom prst="roundRect">
            <a:avLst>
              <a:gd name="adj" fmla="val 50000"/>
            </a:avLst>
          </a:prstGeom>
          <a:solidFill>
            <a:srgbClr val="EBF5FB"/>
          </a:solidFill>
          <a:ln/>
        </p:spPr>
      </p:sp>
      <p:sp>
        <p:nvSpPr>
          <p:cNvPr id="67" name="Text 65"/>
          <p:cNvSpPr/>
          <p:nvPr/>
        </p:nvSpPr>
        <p:spPr>
          <a:xfrm>
            <a:off x="4096512" y="3054096"/>
            <a:ext cx="2322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</a:t>
            </a:r>
            <a:pPr algn="ctr" indent="0" marL="0">
              <a:buNone/>
            </a:pPr>
            <a:r>
              <a:rPr lang="en-US" sz="7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실습·평가 문항 화면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4005072" y="3383280"/>
            <a:ext cx="2505456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4096512" y="3456432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70" name="Text 68"/>
          <p:cNvSpPr/>
          <p:nvPr/>
        </p:nvSpPr>
        <p:spPr>
          <a:xfrm>
            <a:off x="4096512" y="34564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S-07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4599432" y="3438144"/>
            <a:ext cx="1728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추천 학습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007608" y="3465576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73" name="Text 71"/>
          <p:cNvSpPr/>
          <p:nvPr/>
        </p:nvSpPr>
        <p:spPr>
          <a:xfrm>
            <a:off x="6007608" y="34564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4096512" y="3694176"/>
            <a:ext cx="2322576" cy="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5" name="Text 73"/>
          <p:cNvSpPr/>
          <p:nvPr/>
        </p:nvSpPr>
        <p:spPr>
          <a:xfrm>
            <a:off x="4096512" y="3712464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오답 기반 추천 콘텐츠 자동 제공, 완료 이력 업데이트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4096512" y="4151376"/>
            <a:ext cx="2322576" cy="182880"/>
          </a:xfrm>
          <a:prstGeom prst="roundRect">
            <a:avLst>
              <a:gd name="adj" fmla="val 50000"/>
            </a:avLst>
          </a:prstGeom>
          <a:solidFill>
            <a:srgbClr val="EBF5FB"/>
          </a:solidFill>
          <a:ln/>
        </p:spPr>
      </p:sp>
      <p:sp>
        <p:nvSpPr>
          <p:cNvPr id="77" name="Text 75"/>
          <p:cNvSpPr/>
          <p:nvPr/>
        </p:nvSpPr>
        <p:spPr>
          <a:xfrm>
            <a:off x="4096512" y="4151376"/>
            <a:ext cx="2322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</a:t>
            </a:r>
            <a:pPr algn="ctr" indent="0" marL="0">
              <a:buNone/>
            </a:pPr>
            <a:r>
              <a:rPr lang="en-US" sz="7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홈 (추천 카드)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6583680" y="804672"/>
            <a:ext cx="2596896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79" name="Text 77"/>
          <p:cNvSpPr/>
          <p:nvPr/>
        </p:nvSpPr>
        <p:spPr>
          <a:xfrm>
            <a:off x="6693408" y="80467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성장 확인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6583680" y="1188720"/>
            <a:ext cx="2596896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6675120" y="1261872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2" name="Text 80"/>
          <p:cNvSpPr/>
          <p:nvPr/>
        </p:nvSpPr>
        <p:spPr>
          <a:xfrm>
            <a:off x="6675120" y="12618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S-08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7178040" y="1243584"/>
            <a:ext cx="1819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대시보드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8677656" y="1271016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5" name="Text 83"/>
          <p:cNvSpPr/>
          <p:nvPr/>
        </p:nvSpPr>
        <p:spPr>
          <a:xfrm>
            <a:off x="8677656" y="126187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6675120" y="1499616"/>
            <a:ext cx="2414016" cy="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7" name="Text 85"/>
          <p:cNvSpPr/>
          <p:nvPr/>
        </p:nvSpPr>
        <p:spPr>
          <a:xfrm>
            <a:off x="6675120" y="1517904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 학습·학습 시간·목표 달성률 시각화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6675120" y="1956816"/>
            <a:ext cx="2414016" cy="182880"/>
          </a:xfrm>
          <a:prstGeom prst="roundRect">
            <a:avLst>
              <a:gd name="adj" fmla="val 50000"/>
            </a:avLst>
          </a:prstGeom>
          <a:solidFill>
            <a:srgbClr val="EBF5FB"/>
          </a:solidFill>
          <a:ln/>
        </p:spPr>
      </p:sp>
      <p:sp>
        <p:nvSpPr>
          <p:cNvPr id="89" name="Text 87"/>
          <p:cNvSpPr/>
          <p:nvPr/>
        </p:nvSpPr>
        <p:spPr>
          <a:xfrm>
            <a:off x="6675120" y="1956816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</a:t>
            </a:r>
            <a:pPr algn="ctr" indent="0" marL="0">
              <a:buNone/>
            </a:pPr>
            <a:r>
              <a:rPr lang="en-US" sz="7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 대시보드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6583680" y="2286000"/>
            <a:ext cx="2596896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1" name="Shape 89"/>
          <p:cNvSpPr/>
          <p:nvPr/>
        </p:nvSpPr>
        <p:spPr>
          <a:xfrm>
            <a:off x="6675120" y="2359152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92" name="Text 90"/>
          <p:cNvSpPr/>
          <p:nvPr/>
        </p:nvSpPr>
        <p:spPr>
          <a:xfrm>
            <a:off x="6675120" y="23591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S-09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7178040" y="2340864"/>
            <a:ext cx="1819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오답 노트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8677656" y="2368296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677656" y="235915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6675120" y="2596896"/>
            <a:ext cx="2414016" cy="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7" name="Text 95"/>
          <p:cNvSpPr/>
          <p:nvPr/>
        </p:nvSpPr>
        <p:spPr>
          <a:xfrm>
            <a:off x="6675120" y="2615184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오답 자동 수집, 메모 추가, 오답 재도전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6675120" y="3054096"/>
            <a:ext cx="2414016" cy="182880"/>
          </a:xfrm>
          <a:prstGeom prst="roundRect">
            <a:avLst>
              <a:gd name="adj" fmla="val 50000"/>
            </a:avLst>
          </a:prstGeom>
          <a:solidFill>
            <a:srgbClr val="EBF5FB"/>
          </a:solidFill>
          <a:ln/>
        </p:spPr>
      </p:sp>
      <p:sp>
        <p:nvSpPr>
          <p:cNvPr id="99" name="Text 97"/>
          <p:cNvSpPr/>
          <p:nvPr/>
        </p:nvSpPr>
        <p:spPr>
          <a:xfrm>
            <a:off x="6675120" y="3054096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</a:t>
            </a:r>
            <a:pPr algn="ctr" indent="0" marL="0">
              <a:buNone/>
            </a:pPr>
            <a:r>
              <a:rPr lang="en-US" sz="7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 대시보드 (오답 노트)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6583680" y="3383280"/>
            <a:ext cx="2596896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1" name="Shape 99"/>
          <p:cNvSpPr/>
          <p:nvPr/>
        </p:nvSpPr>
        <p:spPr>
          <a:xfrm>
            <a:off x="6675120" y="3456432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02" name="Text 100"/>
          <p:cNvSpPr/>
          <p:nvPr/>
        </p:nvSpPr>
        <p:spPr>
          <a:xfrm>
            <a:off x="6675120" y="34564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S-10</a:t>
            </a:r>
            <a:endParaRPr lang="en-US" sz="750" dirty="0"/>
          </a:p>
        </p:txBody>
      </p:sp>
      <p:sp>
        <p:nvSpPr>
          <p:cNvPr id="103" name="Text 101"/>
          <p:cNvSpPr/>
          <p:nvPr/>
        </p:nvSpPr>
        <p:spPr>
          <a:xfrm>
            <a:off x="7178040" y="3438144"/>
            <a:ext cx="1819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성취도 분석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8677656" y="3465576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05" name="Text 103"/>
          <p:cNvSpPr/>
          <p:nvPr/>
        </p:nvSpPr>
        <p:spPr>
          <a:xfrm>
            <a:off x="8677656" y="34564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</a:t>
            </a:r>
            <a:endParaRPr lang="en-US" sz="700" dirty="0"/>
          </a:p>
        </p:txBody>
      </p:sp>
      <p:sp>
        <p:nvSpPr>
          <p:cNvPr id="106" name="Shape 104"/>
          <p:cNvSpPr/>
          <p:nvPr/>
        </p:nvSpPr>
        <p:spPr>
          <a:xfrm>
            <a:off x="6675120" y="3694176"/>
            <a:ext cx="2414016" cy="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7" name="Text 105"/>
          <p:cNvSpPr/>
          <p:nvPr/>
        </p:nvSpPr>
        <p:spPr>
          <a:xfrm>
            <a:off x="6675120" y="3712464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영역별 성취 그래프, 이전 시기 대비 성장 비교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6675120" y="4151376"/>
            <a:ext cx="2414016" cy="182880"/>
          </a:xfrm>
          <a:prstGeom prst="roundRect">
            <a:avLst>
              <a:gd name="adj" fmla="val 50000"/>
            </a:avLst>
          </a:prstGeom>
          <a:solidFill>
            <a:srgbClr val="EBF5FB"/>
          </a:solidFill>
          <a:ln/>
        </p:spPr>
      </p:sp>
      <p:sp>
        <p:nvSpPr>
          <p:cNvPr id="109" name="Text 107"/>
          <p:cNvSpPr/>
          <p:nvPr/>
        </p:nvSpPr>
        <p:spPr>
          <a:xfrm>
            <a:off x="6675120" y="4151376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</a:t>
            </a:r>
            <a:pPr algn="ctr" indent="0" marL="0">
              <a:buNone/>
            </a:pPr>
            <a:r>
              <a:rPr lang="en-US" sz="7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 대시보드</a:t>
            </a:r>
            <a:endParaRPr lang="en-US" sz="700" dirty="0"/>
          </a:p>
        </p:txBody>
      </p:sp>
      <p:sp>
        <p:nvSpPr>
          <p:cNvPr id="110" name="Shape 108"/>
          <p:cNvSpPr/>
          <p:nvPr/>
        </p:nvSpPr>
        <p:spPr>
          <a:xfrm>
            <a:off x="438912" y="4892040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111" name="Text 109"/>
          <p:cNvSpPr/>
          <p:nvPr/>
        </p:nvSpPr>
        <p:spPr>
          <a:xfrm>
            <a:off x="438912" y="48920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중·후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1554480" y="491947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단계 10개 기능 · 필수 8 · 선택 1  </a:t>
            </a:r>
            <a:pPr algn="l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실습 환경 = 정보 교과 핵심  </a:t>
            </a:r>
            <a:pPr algn="l"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필수/선택 확정 예정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 </a:t>
            </a:r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교사용 화면 구성도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76072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메뉴 구조(Information Architecture)와 핵심 화면의 위치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0" y="25603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교사용 와이어프레임  |  구조 설계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554480" y="1188720"/>
            <a:ext cx="51480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32688"/>
            <a:ext cx="1097280" cy="512064"/>
          </a:xfrm>
          <a:prstGeom prst="roundRect">
            <a:avLst>
              <a:gd name="adj" fmla="val 8929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32688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홈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74520" y="932688"/>
            <a:ext cx="1481328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932688"/>
            <a:ext cx="1389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오늘의 수업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WF-01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483864" y="932688"/>
            <a:ext cx="1481328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932688"/>
            <a:ext cx="1389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오늘의 기분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WF-01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093208" y="932688"/>
            <a:ext cx="1481328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38928" y="932688"/>
            <a:ext cx="1389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현황 요약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WF-01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702552" y="932688"/>
            <a:ext cx="1481328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932688"/>
            <a:ext cx="1389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게시판 · 알림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WF-01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554480" y="1815084"/>
            <a:ext cx="51480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559052"/>
            <a:ext cx="1097280" cy="512064"/>
          </a:xfrm>
          <a:prstGeom prst="roundRect">
            <a:avLst>
              <a:gd name="adj" fmla="val 8929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1559052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교과서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74520" y="1559052"/>
            <a:ext cx="1481328" cy="512064"/>
          </a:xfrm>
          <a:prstGeom prst="roundRect">
            <a:avLst>
              <a:gd name="adj" fmla="val 89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20240" y="1559052"/>
            <a:ext cx="1389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교과서 뷰어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483864" y="1559052"/>
            <a:ext cx="1481328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9584" y="1559052"/>
            <a:ext cx="1389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자료 수정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(재구성)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WF-02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093208" y="1559052"/>
            <a:ext cx="1481328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38928" y="1559052"/>
            <a:ext cx="1389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수준별 자료 배포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WF-02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702552" y="1559052"/>
            <a:ext cx="1481328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48272" y="1559052"/>
            <a:ext cx="1389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튜터링 모드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WF-03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554480" y="2441448"/>
            <a:ext cx="353872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2185416"/>
            <a:ext cx="1097280" cy="512064"/>
          </a:xfrm>
          <a:prstGeom prst="roundRect">
            <a:avLst>
              <a:gd name="adj" fmla="val 8929"/>
            </a:avLst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2185416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2185416"/>
            <a:ext cx="1481328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20240" y="2185416"/>
            <a:ext cx="1389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분석 결과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WF-05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483864" y="2185416"/>
            <a:ext cx="1481328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29584" y="2185416"/>
            <a:ext cx="1389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학급 학습 현황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WF-05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093208" y="2185416"/>
            <a:ext cx="1481328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38928" y="2185416"/>
            <a:ext cx="1389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학생별 성취도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WF-05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554480" y="3067812"/>
            <a:ext cx="353872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2811780"/>
            <a:ext cx="1097280" cy="512064"/>
          </a:xfrm>
          <a:prstGeom prst="roundRect">
            <a:avLst>
              <a:gd name="adj" fmla="val 8929"/>
            </a:avLst>
          </a:prstGeom>
          <a:solidFill>
            <a:srgbClr val="065A82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2811780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874520" y="2811780"/>
            <a:ext cx="1481328" cy="512064"/>
          </a:xfrm>
          <a:prstGeom prst="roundRect">
            <a:avLst>
              <a:gd name="adj" fmla="val 89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20240" y="2811780"/>
            <a:ext cx="1389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진단 평가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483864" y="2811780"/>
            <a:ext cx="1481328" cy="512064"/>
          </a:xfrm>
          <a:prstGeom prst="roundRect">
            <a:avLst>
              <a:gd name="adj" fmla="val 89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29584" y="2811780"/>
            <a:ext cx="1389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형성 · 총괄 평가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093208" y="2811780"/>
            <a:ext cx="1481328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38928" y="2811780"/>
            <a:ext cx="1389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채점 · 루브릭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WF-04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1554480" y="3694176"/>
            <a:ext cx="192938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7200" y="3438144"/>
            <a:ext cx="1097280" cy="512064"/>
          </a:xfrm>
          <a:prstGeom prst="roundRect">
            <a:avLst>
              <a:gd name="adj" fmla="val 8929"/>
            </a:avLst>
          </a:prstGeom>
          <a:solidFill>
            <a:srgbClr val="065A82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3438144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게시판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874520" y="3438144"/>
            <a:ext cx="1481328" cy="512064"/>
          </a:xfrm>
          <a:prstGeom prst="roundRect">
            <a:avLst>
              <a:gd name="adj" fmla="val 89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20240" y="3438144"/>
            <a:ext cx="1389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공지 등록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483864" y="3438144"/>
            <a:ext cx="1481328" cy="512064"/>
          </a:xfrm>
          <a:prstGeom prst="roundRect">
            <a:avLst>
              <a:gd name="adj" fmla="val 89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29584" y="3438144"/>
            <a:ext cx="1389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게시글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760720" y="34930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</a:t>
            </a:r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와이어프레임 작성 대상    </a:t>
            </a:r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</a:t>
            </a:r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구조만 정의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57200" y="39319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화면 흐름 — 수업 여정 기준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57200" y="4224528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" y="427024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WF-01  교사 홈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전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1961388" y="4430268"/>
            <a:ext cx="155448" cy="155448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57" name="Shape 55"/>
          <p:cNvSpPr/>
          <p:nvPr/>
        </p:nvSpPr>
        <p:spPr>
          <a:xfrm>
            <a:off x="2157984" y="4224528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203704" y="427024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WF-02  수업 설계·재구성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전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662172" y="4430268"/>
            <a:ext cx="155448" cy="155448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60" name="Shape 58"/>
          <p:cNvSpPr/>
          <p:nvPr/>
        </p:nvSpPr>
        <p:spPr>
          <a:xfrm>
            <a:off x="3858768" y="4224528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904488" y="427024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WF-03  실시간 모니터링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중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362956" y="4430268"/>
            <a:ext cx="155448" cy="155448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63" name="Shape 61"/>
          <p:cNvSpPr/>
          <p:nvPr/>
        </p:nvSpPr>
        <p:spPr>
          <a:xfrm>
            <a:off x="5559552" y="4224528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605272" y="427024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WF-04  AI 채점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중·후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7063740" y="4430268"/>
            <a:ext cx="155448" cy="155448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66" name="Shape 64"/>
          <p:cNvSpPr/>
          <p:nvPr/>
        </p:nvSpPr>
        <p:spPr>
          <a:xfrm>
            <a:off x="7260336" y="4224528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306056" y="427024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WF-05  결과 대시보드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후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WF-01  </a:t>
            </a:r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교사 홈 (대시보드)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669280" y="30175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교사용 와이어프레임  |  수업 전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950976"/>
            <a:ext cx="5806440" cy="388620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5875">
            <a:solidFill>
              <a:srgbClr val="94A3B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969264"/>
            <a:ext cx="5769864" cy="21945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521208" y="1046988"/>
            <a:ext cx="64008" cy="6400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046988"/>
            <a:ext cx="64008" cy="6400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8" name="Shape 6"/>
          <p:cNvSpPr/>
          <p:nvPr/>
        </p:nvSpPr>
        <p:spPr>
          <a:xfrm>
            <a:off x="758952" y="1046988"/>
            <a:ext cx="64008" cy="6400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9" name="Shape 7"/>
          <p:cNvSpPr/>
          <p:nvPr/>
        </p:nvSpPr>
        <p:spPr>
          <a:xfrm>
            <a:off x="978408" y="1010412"/>
            <a:ext cx="2926080" cy="1280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" y="1243584"/>
            <a:ext cx="5660136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" y="124358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399032" y="1289304"/>
            <a:ext cx="105156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53896" y="12893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1학년 3반  ▾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313432" y="1179576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95144" y="1168603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298448"/>
            <a:ext cx="182880" cy="182880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17" name="Shape 15"/>
          <p:cNvSpPr/>
          <p:nvPr/>
        </p:nvSpPr>
        <p:spPr>
          <a:xfrm>
            <a:off x="5833872" y="1298448"/>
            <a:ext cx="182880" cy="182880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18" name="Shape 16"/>
          <p:cNvSpPr/>
          <p:nvPr/>
        </p:nvSpPr>
        <p:spPr>
          <a:xfrm>
            <a:off x="484632" y="1609344"/>
            <a:ext cx="868680" cy="30175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9496" y="1700784"/>
            <a:ext cx="75895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" y="170078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홈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12648" y="208483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교과서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12648" y="24688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12648" y="285292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2648" y="323697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게시판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444752" y="1609344"/>
            <a:ext cx="2632009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36192" y="16642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오늘의 수업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829873" y="1545336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11585" y="1534363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536192" y="190195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Ⅲ-2-01  프로그래밍 시작하기 (3교시)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536192" y="2139696"/>
            <a:ext cx="1809049" cy="5943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Shape 29"/>
          <p:cNvSpPr/>
          <p:nvPr/>
        </p:nvSpPr>
        <p:spPr>
          <a:xfrm>
            <a:off x="1536192" y="2253996"/>
            <a:ext cx="1266334" cy="5943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Shape 30"/>
          <p:cNvSpPr/>
          <p:nvPr/>
        </p:nvSpPr>
        <p:spPr>
          <a:xfrm>
            <a:off x="1536192" y="2569464"/>
            <a:ext cx="914400" cy="292608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536192" y="256946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시작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542032" y="2569464"/>
            <a:ext cx="91440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42032" y="256946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자료 점검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186489" y="1609344"/>
            <a:ext cx="1958279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77929" y="16642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오늘의 기분 (학생 감정 체크)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897880" y="1545336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79592" y="1534363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277929" y="1938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좋음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753417" y="1965960"/>
            <a:ext cx="1062935" cy="109728"/>
          </a:xfrm>
          <a:prstGeom prst="rect">
            <a:avLst/>
          </a:prstGeom>
          <a:solidFill>
            <a:srgbClr val="CBD5E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77929" y="21762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보통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753417" y="2203704"/>
            <a:ext cx="649571" cy="109728"/>
          </a:xfrm>
          <a:prstGeom prst="rect">
            <a:avLst/>
          </a:prstGeom>
          <a:solidFill>
            <a:srgbClr val="CBD5E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77929" y="24140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관심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4753417" y="2441448"/>
            <a:ext cx="354312" cy="109728"/>
          </a:xfrm>
          <a:prstGeom prst="rect">
            <a:avLst/>
          </a:prstGeom>
          <a:solidFill>
            <a:srgbClr val="D9770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77929" y="2688336"/>
            <a:ext cx="1775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관심 필요 학생 2명 → 상세 보기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1444752" y="3154680"/>
            <a:ext cx="2632009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536192" y="320954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학급 학습 현황 요약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829873" y="3090672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11585" y="3079699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536192" y="3483864"/>
            <a:ext cx="785896" cy="7772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536192" y="3557016"/>
            <a:ext cx="785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진행률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1536192" y="3776472"/>
            <a:ext cx="785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00%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2367808" y="3483864"/>
            <a:ext cx="785896" cy="7772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367808" y="3557016"/>
            <a:ext cx="785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점수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2367808" y="3776472"/>
            <a:ext cx="785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00%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3199425" y="3483864"/>
            <a:ext cx="785896" cy="7772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199425" y="3557016"/>
            <a:ext cx="785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3199425" y="3776472"/>
            <a:ext cx="785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00%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4186489" y="3154680"/>
            <a:ext cx="1958279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277929" y="320954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게시판 · 알림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897880" y="3090672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879592" y="3079699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277929" y="3520440"/>
            <a:ext cx="1729679" cy="5943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5" name="Shape 63"/>
          <p:cNvSpPr/>
          <p:nvPr/>
        </p:nvSpPr>
        <p:spPr>
          <a:xfrm>
            <a:off x="4277929" y="3726180"/>
            <a:ext cx="1729679" cy="5943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6" name="Shape 64"/>
          <p:cNvSpPr/>
          <p:nvPr/>
        </p:nvSpPr>
        <p:spPr>
          <a:xfrm>
            <a:off x="4277929" y="3931920"/>
            <a:ext cx="1729679" cy="5943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7" name="Shape 65"/>
          <p:cNvSpPr/>
          <p:nvPr/>
        </p:nvSpPr>
        <p:spPr>
          <a:xfrm>
            <a:off x="4277929" y="4137660"/>
            <a:ext cx="864840" cy="5943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8" name="Text 66"/>
          <p:cNvSpPr/>
          <p:nvPr/>
        </p:nvSpPr>
        <p:spPr>
          <a:xfrm>
            <a:off x="6400800" y="95097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구성 요소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6400800" y="1289304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382512" y="1278331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693408" y="1280160"/>
            <a:ext cx="2039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학급 선택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 학급 전환 드롭다운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400800" y="1911096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82512" y="1900123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6693408" y="1901952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오늘의 수업 카드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예정 차시 표시, [수업 시작] 시 WF-03 진입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400800" y="2606040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382512" y="2595067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6693408" y="2596896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오늘의 기분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감정 체크 분포, 관심 필요 학생 알림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6400800" y="3300984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82512" y="3290011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6693408" y="3291840"/>
            <a:ext cx="2039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현황 요약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진행률·실습·테스트 평균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6400800" y="3922776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382512" y="3911803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6693408" y="3913632"/>
            <a:ext cx="2039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게시판 · 알림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공지 등록, 학생 게시글 확인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6400800" y="4370832"/>
            <a:ext cx="2331720" cy="475488"/>
          </a:xfrm>
          <a:prstGeom prst="roundRect">
            <a:avLst>
              <a:gd name="adj" fmla="val 9615"/>
            </a:avLst>
          </a:prstGeom>
          <a:solidFill>
            <a:srgbClr val="E0F0F7"/>
          </a:solidFill>
          <a:ln/>
        </p:spPr>
      </p:sp>
      <p:sp>
        <p:nvSpPr>
          <p:cNvPr id="85" name="Text 83"/>
          <p:cNvSpPr/>
          <p:nvPr/>
        </p:nvSpPr>
        <p:spPr>
          <a:xfrm>
            <a:off x="6492240" y="437083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여정 단계: 수업 전 ①~② — 학생 상태 파악과 수업 준비의 시작점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WF-02  </a:t>
            </a:r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설계 · 교과서 재구성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669280" y="30175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교사용 와이어프레임  |  수업 전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950976"/>
            <a:ext cx="5806440" cy="388620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5875">
            <a:solidFill>
              <a:srgbClr val="94A3B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969264"/>
            <a:ext cx="5769864" cy="21945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521208" y="1046988"/>
            <a:ext cx="64008" cy="6400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046988"/>
            <a:ext cx="64008" cy="6400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8" name="Shape 6"/>
          <p:cNvSpPr/>
          <p:nvPr/>
        </p:nvSpPr>
        <p:spPr>
          <a:xfrm>
            <a:off x="758952" y="1046988"/>
            <a:ext cx="64008" cy="6400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9" name="Shape 7"/>
          <p:cNvSpPr/>
          <p:nvPr/>
        </p:nvSpPr>
        <p:spPr>
          <a:xfrm>
            <a:off x="978408" y="1010412"/>
            <a:ext cx="2926080" cy="1280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" y="1243584"/>
            <a:ext cx="5660136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" y="124358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Ⅲ-2-01. 프로그래밍 시작하기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749040" y="1280160"/>
            <a:ext cx="86868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128016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퀴즈 생성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657600" y="1170432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39312" y="1159459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280160"/>
            <a:ext cx="713232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28016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수정 저장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422392" y="1280160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22392" y="128016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84632" y="1609344"/>
            <a:ext cx="1371600" cy="30175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" y="166420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단원 · 차시 목차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655064" y="1545336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36776" y="1534363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76072" y="190195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Ⅲ. 알고리즘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85800" y="217627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개념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30352" y="2450592"/>
            <a:ext cx="128016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245059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[실습] 사칙연산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85800" y="272491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[해보기] 입장료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85800" y="299923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형성평가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76072" y="327355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Ⅳ. 데이터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947672" y="1609344"/>
            <a:ext cx="269748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39112" y="166420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자료 편집 영역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389120" y="1545336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1534363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039112" y="1901952"/>
            <a:ext cx="2514600" cy="7315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93976" y="19385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[설명]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2093976" y="2139696"/>
            <a:ext cx="2331720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Shape 36"/>
          <p:cNvSpPr/>
          <p:nvPr/>
        </p:nvSpPr>
        <p:spPr>
          <a:xfrm>
            <a:off x="2093976" y="2244852"/>
            <a:ext cx="2331720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9" name="Shape 37"/>
          <p:cNvSpPr/>
          <p:nvPr/>
        </p:nvSpPr>
        <p:spPr>
          <a:xfrm>
            <a:off x="2093976" y="2350008"/>
            <a:ext cx="1399032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Shape 38"/>
          <p:cNvSpPr/>
          <p:nvPr/>
        </p:nvSpPr>
        <p:spPr>
          <a:xfrm>
            <a:off x="2039112" y="2724912"/>
            <a:ext cx="2514600" cy="10058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039112" y="2724912"/>
            <a:ext cx="2514600" cy="100584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39112" y="3730752"/>
            <a:ext cx="2514600" cy="-100584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39112" y="309067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영상 / 예시 이미지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039112" y="3822192"/>
            <a:ext cx="2514600" cy="694944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093976" y="385876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[지시사항]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2093976" y="4059936"/>
            <a:ext cx="2331720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Shape 45"/>
          <p:cNvSpPr/>
          <p:nvPr/>
        </p:nvSpPr>
        <p:spPr>
          <a:xfrm>
            <a:off x="2093976" y="4165092"/>
            <a:ext cx="2331720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8" name="Shape 46"/>
          <p:cNvSpPr/>
          <p:nvPr/>
        </p:nvSpPr>
        <p:spPr>
          <a:xfrm>
            <a:off x="2093976" y="4270248"/>
            <a:ext cx="1399032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9" name="Shape 47"/>
          <p:cNvSpPr/>
          <p:nvPr/>
        </p:nvSpPr>
        <p:spPr>
          <a:xfrm>
            <a:off x="4754880" y="1609344"/>
            <a:ext cx="1389888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46320" y="1664208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수준별 자료 배포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888736" y="1545336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70448" y="1534363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846320" y="1938528"/>
            <a:ext cx="1207008" cy="5303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19472" y="1993392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 그룹 (7명)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919472" y="2212848"/>
            <a:ext cx="587045" cy="5943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6" name="Shape 54"/>
          <p:cNvSpPr/>
          <p:nvPr/>
        </p:nvSpPr>
        <p:spPr>
          <a:xfrm>
            <a:off x="4846320" y="2578608"/>
            <a:ext cx="1207008" cy="5303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19472" y="2633472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 그룹 (14명)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4919472" y="2852928"/>
            <a:ext cx="587045" cy="5943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9" name="Shape 57"/>
          <p:cNvSpPr/>
          <p:nvPr/>
        </p:nvSpPr>
        <p:spPr>
          <a:xfrm>
            <a:off x="4846320" y="3218688"/>
            <a:ext cx="1207008" cy="5303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19472" y="3273552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 그룹 (5명)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4919472" y="3493008"/>
            <a:ext cx="587045" cy="5943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Text 60"/>
          <p:cNvSpPr/>
          <p:nvPr/>
        </p:nvSpPr>
        <p:spPr>
          <a:xfrm>
            <a:off x="4846320" y="391363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추가 실습 자료 첨부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846320" y="4224528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846320" y="4224528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그룹별 배포 실행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6400800" y="95097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구성 요소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6400800" y="1289304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82512" y="1278331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693408" y="1280160"/>
            <a:ext cx="2039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단원 · 차시 목차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트리 탐색, 차시 선택 시 편집 영역 로드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400800" y="1911096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382512" y="1900123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693408" y="1901952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자료 편집 영역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설명·지시사항 수정, 영상·이미지 교체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400800" y="2606040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82512" y="2595067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6693408" y="2596896"/>
            <a:ext cx="2039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퀴즈 생성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자료 기반 퀴즈 자동 생성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400800" y="3227832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382512" y="3216859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6693408" y="3218688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수준별 자료 배포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진단평가 기반 상·중·하 그룹별 배포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6400800" y="4370832"/>
            <a:ext cx="2331720" cy="475488"/>
          </a:xfrm>
          <a:prstGeom prst="roundRect">
            <a:avLst>
              <a:gd name="adj" fmla="val 9615"/>
            </a:avLst>
          </a:prstGeom>
          <a:solidFill>
            <a:srgbClr val="E0F0F7"/>
          </a:solidFill>
          <a:ln/>
        </p:spPr>
      </p:sp>
      <p:sp>
        <p:nvSpPr>
          <p:cNvPr id="79" name="Text 77"/>
          <p:cNvSpPr/>
          <p:nvPr/>
        </p:nvSpPr>
        <p:spPr>
          <a:xfrm>
            <a:off x="6492240" y="437083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여정 단계: 수업 전 ② — 재구성한 자료가 학생 교과서에 반영됨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WF-03  </a:t>
            </a:r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모니터링 (튜터링)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669280" y="30175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교사용 와이어프레임  |  수업 중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950976"/>
            <a:ext cx="5806440" cy="388620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5875">
            <a:solidFill>
              <a:srgbClr val="94A3B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969264"/>
            <a:ext cx="5769864" cy="21945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521208" y="1046988"/>
            <a:ext cx="64008" cy="6400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046988"/>
            <a:ext cx="64008" cy="6400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8" name="Shape 6"/>
          <p:cNvSpPr/>
          <p:nvPr/>
        </p:nvSpPr>
        <p:spPr>
          <a:xfrm>
            <a:off x="758952" y="1046988"/>
            <a:ext cx="64008" cy="6400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9" name="Shape 7"/>
          <p:cNvSpPr/>
          <p:nvPr/>
        </p:nvSpPr>
        <p:spPr>
          <a:xfrm>
            <a:off x="978408" y="1010412"/>
            <a:ext cx="2926080" cy="1280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" y="1243584"/>
            <a:ext cx="5660136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" y="124358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[실습] 두 수 사칙연산  ·  26명 접속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904488" y="1289304"/>
            <a:ext cx="676656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59352" y="1348740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069080" y="128930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 9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654296" y="1289304"/>
            <a:ext cx="676656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1348740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4818888" y="128930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진행 15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404104" y="1289304"/>
            <a:ext cx="676656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58968" y="1348740"/>
            <a:ext cx="82296" cy="8229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5568696" y="128930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도움 2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813048" y="1170432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94760" y="1159459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" y="1609344"/>
            <a:ext cx="896112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" y="1655064"/>
            <a:ext cx="804672" cy="603504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0352" y="1655064"/>
            <a:ext cx="804672" cy="60350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2258568"/>
            <a:ext cx="804672" cy="-60350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2295144"/>
            <a:ext cx="804672" cy="182880"/>
          </a:xfrm>
          <a:prstGeom prst="rect">
            <a:avLst/>
          </a:prstGeom>
          <a:solidFill>
            <a:srgbClr val="F1F5F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" y="2295144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1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1225296" y="2345436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0" name="Shape 28"/>
          <p:cNvSpPr/>
          <p:nvPr/>
        </p:nvSpPr>
        <p:spPr>
          <a:xfrm>
            <a:off x="1444752" y="1609344"/>
            <a:ext cx="896112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490472" y="1655064"/>
            <a:ext cx="804672" cy="603504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490472" y="1655064"/>
            <a:ext cx="804672" cy="60350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490472" y="2258568"/>
            <a:ext cx="804672" cy="-60350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490472" y="2295144"/>
            <a:ext cx="804672" cy="182880"/>
          </a:xfrm>
          <a:prstGeom prst="rect">
            <a:avLst/>
          </a:prstGeom>
          <a:solidFill>
            <a:srgbClr val="F1F5F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536192" y="2295144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2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2185416" y="2345436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7" name="Shape 35"/>
          <p:cNvSpPr/>
          <p:nvPr/>
        </p:nvSpPr>
        <p:spPr>
          <a:xfrm>
            <a:off x="2404872" y="1609344"/>
            <a:ext cx="896112" cy="932688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50592" y="1655064"/>
            <a:ext cx="804672" cy="603504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50592" y="1655064"/>
            <a:ext cx="804672" cy="60350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50592" y="2258568"/>
            <a:ext cx="804672" cy="-60350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50592" y="2295144"/>
            <a:ext cx="804672" cy="182880"/>
          </a:xfrm>
          <a:prstGeom prst="rect">
            <a:avLst/>
          </a:prstGeom>
          <a:solidFill>
            <a:srgbClr val="F1F5F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96312" y="2295144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3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3145536" y="2345436"/>
            <a:ext cx="82296" cy="8229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4" name="Text 42"/>
          <p:cNvSpPr/>
          <p:nvPr/>
        </p:nvSpPr>
        <p:spPr>
          <a:xfrm>
            <a:off x="2450592" y="164592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도움 요청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3154680" y="1536192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36392" y="1525219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364992" y="1609344"/>
            <a:ext cx="896112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410712" y="1655064"/>
            <a:ext cx="804672" cy="603504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410712" y="1655064"/>
            <a:ext cx="804672" cy="60350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410712" y="2258568"/>
            <a:ext cx="804672" cy="-60350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10712" y="2295144"/>
            <a:ext cx="804672" cy="182880"/>
          </a:xfrm>
          <a:prstGeom prst="rect">
            <a:avLst/>
          </a:prstGeom>
          <a:solidFill>
            <a:srgbClr val="F1F5F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56432" y="2295144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4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4105656" y="2345436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4" name="Shape 52"/>
          <p:cNvSpPr/>
          <p:nvPr/>
        </p:nvSpPr>
        <p:spPr>
          <a:xfrm>
            <a:off x="484632" y="2606040"/>
            <a:ext cx="896112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30352" y="2651760"/>
            <a:ext cx="804672" cy="603504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30352" y="2651760"/>
            <a:ext cx="804672" cy="60350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30352" y="3255264"/>
            <a:ext cx="804672" cy="-60350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30352" y="3291840"/>
            <a:ext cx="804672" cy="182880"/>
          </a:xfrm>
          <a:prstGeom prst="rect">
            <a:avLst/>
          </a:prstGeom>
          <a:solidFill>
            <a:srgbClr val="F1F5F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76072" y="329184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5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1225296" y="3342132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1" name="Shape 59"/>
          <p:cNvSpPr/>
          <p:nvPr/>
        </p:nvSpPr>
        <p:spPr>
          <a:xfrm>
            <a:off x="1444752" y="2606040"/>
            <a:ext cx="896112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490472" y="2651760"/>
            <a:ext cx="804672" cy="603504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490472" y="2651760"/>
            <a:ext cx="804672" cy="60350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490472" y="3255264"/>
            <a:ext cx="804672" cy="-60350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490472" y="3291840"/>
            <a:ext cx="804672" cy="182880"/>
          </a:xfrm>
          <a:prstGeom prst="rect">
            <a:avLst/>
          </a:prstGeom>
          <a:solidFill>
            <a:srgbClr val="F1F5F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536192" y="329184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6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>
            <a:off x="2185416" y="3342132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8" name="Shape 66"/>
          <p:cNvSpPr/>
          <p:nvPr/>
        </p:nvSpPr>
        <p:spPr>
          <a:xfrm>
            <a:off x="2404872" y="2606040"/>
            <a:ext cx="896112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450592" y="2651760"/>
            <a:ext cx="804672" cy="603504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450592" y="2651760"/>
            <a:ext cx="804672" cy="60350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450592" y="3255264"/>
            <a:ext cx="804672" cy="-60350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450592" y="3291840"/>
            <a:ext cx="804672" cy="182880"/>
          </a:xfrm>
          <a:prstGeom prst="rect">
            <a:avLst/>
          </a:prstGeom>
          <a:solidFill>
            <a:srgbClr val="F1F5F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496312" y="329184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7</a:t>
            </a:r>
            <a:endParaRPr lang="en-US" sz="650" dirty="0"/>
          </a:p>
        </p:txBody>
      </p:sp>
      <p:sp>
        <p:nvSpPr>
          <p:cNvPr id="74" name="Shape 72"/>
          <p:cNvSpPr/>
          <p:nvPr/>
        </p:nvSpPr>
        <p:spPr>
          <a:xfrm>
            <a:off x="3145536" y="3342132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5" name="Shape 73"/>
          <p:cNvSpPr/>
          <p:nvPr/>
        </p:nvSpPr>
        <p:spPr>
          <a:xfrm>
            <a:off x="3364992" y="2606040"/>
            <a:ext cx="896112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410712" y="2651760"/>
            <a:ext cx="804672" cy="603504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410712" y="2651760"/>
            <a:ext cx="804672" cy="60350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410712" y="3255264"/>
            <a:ext cx="804672" cy="-60350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410712" y="3291840"/>
            <a:ext cx="804672" cy="182880"/>
          </a:xfrm>
          <a:prstGeom prst="rect">
            <a:avLst/>
          </a:prstGeom>
          <a:solidFill>
            <a:srgbClr val="F1F5F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456432" y="329184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8</a:t>
            </a:r>
            <a:endParaRPr lang="en-US" sz="650" dirty="0"/>
          </a:p>
        </p:txBody>
      </p:sp>
      <p:sp>
        <p:nvSpPr>
          <p:cNvPr id="81" name="Shape 79"/>
          <p:cNvSpPr/>
          <p:nvPr/>
        </p:nvSpPr>
        <p:spPr>
          <a:xfrm>
            <a:off x="4105656" y="3342132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2" name="Shape 80"/>
          <p:cNvSpPr/>
          <p:nvPr/>
        </p:nvSpPr>
        <p:spPr>
          <a:xfrm>
            <a:off x="484632" y="3602736"/>
            <a:ext cx="896112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30352" y="3648456"/>
            <a:ext cx="804672" cy="603504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30352" y="3648456"/>
            <a:ext cx="804672" cy="60350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30352" y="4251960"/>
            <a:ext cx="804672" cy="-60350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30352" y="4288536"/>
            <a:ext cx="804672" cy="182880"/>
          </a:xfrm>
          <a:prstGeom prst="rect">
            <a:avLst/>
          </a:prstGeom>
          <a:solidFill>
            <a:srgbClr val="F1F5F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76072" y="4288536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9</a:t>
            </a:r>
            <a:endParaRPr lang="en-US" sz="650" dirty="0"/>
          </a:p>
        </p:txBody>
      </p:sp>
      <p:sp>
        <p:nvSpPr>
          <p:cNvPr id="88" name="Shape 86"/>
          <p:cNvSpPr/>
          <p:nvPr/>
        </p:nvSpPr>
        <p:spPr>
          <a:xfrm>
            <a:off x="1225296" y="4338828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9" name="Shape 87"/>
          <p:cNvSpPr/>
          <p:nvPr/>
        </p:nvSpPr>
        <p:spPr>
          <a:xfrm>
            <a:off x="1444752" y="3602736"/>
            <a:ext cx="896112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490472" y="3648456"/>
            <a:ext cx="804672" cy="603504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490472" y="3648456"/>
            <a:ext cx="804672" cy="60350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490472" y="4251960"/>
            <a:ext cx="804672" cy="-60350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490472" y="4288536"/>
            <a:ext cx="804672" cy="182880"/>
          </a:xfrm>
          <a:prstGeom prst="rect">
            <a:avLst/>
          </a:prstGeom>
          <a:solidFill>
            <a:srgbClr val="F1F5F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536192" y="4288536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10</a:t>
            </a:r>
            <a:endParaRPr lang="en-US" sz="650" dirty="0"/>
          </a:p>
        </p:txBody>
      </p:sp>
      <p:sp>
        <p:nvSpPr>
          <p:cNvPr id="95" name="Shape 93"/>
          <p:cNvSpPr/>
          <p:nvPr/>
        </p:nvSpPr>
        <p:spPr>
          <a:xfrm>
            <a:off x="2185416" y="4338828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6" name="Shape 94"/>
          <p:cNvSpPr/>
          <p:nvPr/>
        </p:nvSpPr>
        <p:spPr>
          <a:xfrm>
            <a:off x="2404872" y="3602736"/>
            <a:ext cx="896112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450592" y="3648456"/>
            <a:ext cx="804672" cy="603504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450592" y="3648456"/>
            <a:ext cx="804672" cy="60350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450592" y="4251960"/>
            <a:ext cx="804672" cy="-60350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450592" y="4288536"/>
            <a:ext cx="804672" cy="182880"/>
          </a:xfrm>
          <a:prstGeom prst="rect">
            <a:avLst/>
          </a:prstGeom>
          <a:solidFill>
            <a:srgbClr val="F1F5F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496312" y="4288536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11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>
            <a:off x="3145536" y="4338828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3" name="Shape 101"/>
          <p:cNvSpPr/>
          <p:nvPr/>
        </p:nvSpPr>
        <p:spPr>
          <a:xfrm>
            <a:off x="3364992" y="3602736"/>
            <a:ext cx="896112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410712" y="3648456"/>
            <a:ext cx="804672" cy="603504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410712" y="3648456"/>
            <a:ext cx="804672" cy="60350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410712" y="4251960"/>
            <a:ext cx="804672" cy="-60350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410712" y="4288536"/>
            <a:ext cx="804672" cy="182880"/>
          </a:xfrm>
          <a:prstGeom prst="rect">
            <a:avLst/>
          </a:prstGeom>
          <a:solidFill>
            <a:srgbClr val="F1F5F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456432" y="4288536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12</a:t>
            </a:r>
            <a:endParaRPr lang="en-US" sz="650" dirty="0"/>
          </a:p>
        </p:txBody>
      </p:sp>
      <p:sp>
        <p:nvSpPr>
          <p:cNvPr id="109" name="Shape 107"/>
          <p:cNvSpPr/>
          <p:nvPr/>
        </p:nvSpPr>
        <p:spPr>
          <a:xfrm>
            <a:off x="4105656" y="4338828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261872" y="1536192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243584" y="1525219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4416552" y="1609344"/>
            <a:ext cx="1728216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489704" y="1655064"/>
            <a:ext cx="1581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3 — 화면 보기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5907024" y="1545336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888736" y="1534363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4489704" y="1865376"/>
            <a:ext cx="1581912" cy="9601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489704" y="1865376"/>
            <a:ext cx="1581912" cy="96012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489704" y="2825496"/>
            <a:ext cx="1581912" cy="-96012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489704" y="2203704"/>
            <a:ext cx="1581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화면 (실시간)</a:t>
            </a:r>
            <a:endParaRPr lang="en-US" sz="700" dirty="0"/>
          </a:p>
        </p:txBody>
      </p:sp>
      <p:sp>
        <p:nvSpPr>
          <p:cNvPr id="120" name="Shape 118"/>
          <p:cNvSpPr/>
          <p:nvPr/>
        </p:nvSpPr>
        <p:spPr>
          <a:xfrm>
            <a:off x="4489704" y="2907792"/>
            <a:ext cx="763524" cy="256032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489704" y="2907792"/>
            <a:ext cx="7635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첨삭</a:t>
            </a:r>
            <a:endParaRPr lang="en-US" sz="650" dirty="0"/>
          </a:p>
        </p:txBody>
      </p:sp>
      <p:sp>
        <p:nvSpPr>
          <p:cNvPr id="122" name="Shape 120"/>
          <p:cNvSpPr/>
          <p:nvPr/>
        </p:nvSpPr>
        <p:spPr>
          <a:xfrm>
            <a:off x="5308092" y="2907792"/>
            <a:ext cx="763524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5308092" y="2907792"/>
            <a:ext cx="7635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점수 수정</a:t>
            </a:r>
            <a:endParaRPr lang="en-US" sz="650" dirty="0"/>
          </a:p>
        </p:txBody>
      </p:sp>
      <p:sp>
        <p:nvSpPr>
          <p:cNvPr id="124" name="Text 122"/>
          <p:cNvSpPr/>
          <p:nvPr/>
        </p:nvSpPr>
        <p:spPr>
          <a:xfrm>
            <a:off x="4489704" y="3273552"/>
            <a:ext cx="1581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챗봇 질문 현황</a:t>
            </a:r>
            <a:endParaRPr lang="en-US" sz="700" dirty="0"/>
          </a:p>
        </p:txBody>
      </p:sp>
      <p:sp>
        <p:nvSpPr>
          <p:cNvPr id="125" name="Shape 123"/>
          <p:cNvSpPr/>
          <p:nvPr/>
        </p:nvSpPr>
        <p:spPr>
          <a:xfrm>
            <a:off x="5907024" y="3236976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5888736" y="3226003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4489704" y="3511296"/>
            <a:ext cx="1545336" cy="5943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8" name="Shape 126"/>
          <p:cNvSpPr/>
          <p:nvPr/>
        </p:nvSpPr>
        <p:spPr>
          <a:xfrm>
            <a:off x="4489704" y="3698748"/>
            <a:ext cx="1545336" cy="5943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4489704" y="3886200"/>
            <a:ext cx="1545336" cy="5943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4489704" y="4073652"/>
            <a:ext cx="1545336" cy="5943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4489704" y="4261104"/>
            <a:ext cx="772668" cy="5943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2" name="Text 130"/>
          <p:cNvSpPr/>
          <p:nvPr/>
        </p:nvSpPr>
        <p:spPr>
          <a:xfrm>
            <a:off x="6400800" y="95097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구성 요소</a:t>
            </a:r>
            <a:endParaRPr lang="en-US" sz="1200" dirty="0"/>
          </a:p>
        </p:txBody>
      </p:sp>
      <p:sp>
        <p:nvSpPr>
          <p:cNvPr id="133" name="Shape 131"/>
          <p:cNvSpPr/>
          <p:nvPr/>
        </p:nvSpPr>
        <p:spPr>
          <a:xfrm>
            <a:off x="6400800" y="1289304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6382512" y="1278331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35" name="Text 133"/>
          <p:cNvSpPr/>
          <p:nvPr/>
        </p:nvSpPr>
        <p:spPr>
          <a:xfrm>
            <a:off x="6693408" y="1280160"/>
            <a:ext cx="2039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현황 요약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 · 진행 · 도움 요청 실시간 집계</a:t>
            </a:r>
            <a:endParaRPr lang="en-US" sz="900" dirty="0"/>
          </a:p>
        </p:txBody>
      </p:sp>
      <p:sp>
        <p:nvSpPr>
          <p:cNvPr id="136" name="Shape 134"/>
          <p:cNvSpPr/>
          <p:nvPr/>
        </p:nvSpPr>
        <p:spPr>
          <a:xfrm>
            <a:off x="6400800" y="1911096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6382512" y="1900123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38" name="Text 136"/>
          <p:cNvSpPr/>
          <p:nvPr/>
        </p:nvSpPr>
        <p:spPr>
          <a:xfrm>
            <a:off x="6693408" y="1901952"/>
            <a:ext cx="2039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학생 화면 그리드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학급 전원의 실습 화면 동시 모니터링</a:t>
            </a:r>
            <a:endParaRPr lang="en-US" sz="900" dirty="0"/>
          </a:p>
        </p:txBody>
      </p:sp>
      <p:sp>
        <p:nvSpPr>
          <p:cNvPr id="139" name="Shape 137"/>
          <p:cNvSpPr/>
          <p:nvPr/>
        </p:nvSpPr>
        <p:spPr>
          <a:xfrm>
            <a:off x="6400800" y="2569464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6382512" y="2558491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41" name="Text 139"/>
          <p:cNvSpPr/>
          <p:nvPr/>
        </p:nvSpPr>
        <p:spPr>
          <a:xfrm>
            <a:off x="6693408" y="2560320"/>
            <a:ext cx="2039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표시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도움 요청 학생 강조 (테두리 + 라벨)</a:t>
            </a:r>
            <a:endParaRPr lang="en-US" sz="900" dirty="0"/>
          </a:p>
        </p:txBody>
      </p:sp>
      <p:sp>
        <p:nvSpPr>
          <p:cNvPr id="142" name="Shape 140"/>
          <p:cNvSpPr/>
          <p:nvPr/>
        </p:nvSpPr>
        <p:spPr>
          <a:xfrm>
            <a:off x="6400800" y="3191256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6382512" y="3180283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44" name="Text 142"/>
          <p:cNvSpPr/>
          <p:nvPr/>
        </p:nvSpPr>
        <p:spPr>
          <a:xfrm>
            <a:off x="6693408" y="3182112"/>
            <a:ext cx="2039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개별 화면 · 첨삭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확대 보기, 코드 수정·저장, 수동 채점</a:t>
            </a:r>
            <a:endParaRPr lang="en-US" sz="900" dirty="0"/>
          </a:p>
        </p:txBody>
      </p:sp>
      <p:sp>
        <p:nvSpPr>
          <p:cNvPr id="145" name="Shape 143"/>
          <p:cNvSpPr/>
          <p:nvPr/>
        </p:nvSpPr>
        <p:spPr>
          <a:xfrm>
            <a:off x="6400800" y="3849624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6382512" y="3838651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147" name="Text 145"/>
          <p:cNvSpPr/>
          <p:nvPr/>
        </p:nvSpPr>
        <p:spPr>
          <a:xfrm>
            <a:off x="6693408" y="3840480"/>
            <a:ext cx="2039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챗봇 질문 현황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학생-챗봇 대화 로그로 오개념 파악</a:t>
            </a:r>
            <a:endParaRPr lang="en-US" sz="900" dirty="0"/>
          </a:p>
        </p:txBody>
      </p:sp>
      <p:sp>
        <p:nvSpPr>
          <p:cNvPr id="148" name="Shape 146"/>
          <p:cNvSpPr/>
          <p:nvPr/>
        </p:nvSpPr>
        <p:spPr>
          <a:xfrm>
            <a:off x="6400800" y="4370832"/>
            <a:ext cx="2331720" cy="475488"/>
          </a:xfrm>
          <a:prstGeom prst="roundRect">
            <a:avLst>
              <a:gd name="adj" fmla="val 9615"/>
            </a:avLst>
          </a:prstGeom>
          <a:solidFill>
            <a:srgbClr val="E0F0F7"/>
          </a:solidFill>
          <a:ln/>
        </p:spPr>
      </p:sp>
      <p:sp>
        <p:nvSpPr>
          <p:cNvPr id="149" name="Text 147"/>
          <p:cNvSpPr/>
          <p:nvPr/>
        </p:nvSpPr>
        <p:spPr>
          <a:xfrm>
            <a:off x="6492240" y="437083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여정 단계: 수업 중 ④~⑤ — 순회 지도를 화면으로 대체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WF-04  </a:t>
            </a:r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채점 (루브릭)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669280" y="30175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교사용 와이어프레임  |  수업 중 · 후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950976"/>
            <a:ext cx="5806440" cy="388620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5875">
            <a:solidFill>
              <a:srgbClr val="94A3B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969264"/>
            <a:ext cx="5769864" cy="21945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521208" y="1046988"/>
            <a:ext cx="64008" cy="6400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046988"/>
            <a:ext cx="64008" cy="6400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8" name="Shape 6"/>
          <p:cNvSpPr/>
          <p:nvPr/>
        </p:nvSpPr>
        <p:spPr>
          <a:xfrm>
            <a:off x="758952" y="1046988"/>
            <a:ext cx="64008" cy="6400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9" name="Shape 7"/>
          <p:cNvSpPr/>
          <p:nvPr/>
        </p:nvSpPr>
        <p:spPr>
          <a:xfrm>
            <a:off x="978408" y="1010412"/>
            <a:ext cx="2926080" cy="1280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" y="1243584"/>
            <a:ext cx="5660136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7784" y="1289304"/>
            <a:ext cx="2286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" y="128930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[실습] 두 수 사칙연산  ▾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770632" y="1170432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52344" y="1159459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56048" y="1280160"/>
            <a:ext cx="1115568" cy="219456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56048" y="1280160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자동 채점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864608" y="1170432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159459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" y="1609344"/>
            <a:ext cx="2834640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" y="16642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채점 기준표 (루브릭)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063240" y="1545336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44952" y="1534363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76072" y="1901952"/>
            <a:ext cx="2148840" cy="219456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70632" y="1901952"/>
            <a:ext cx="457200" cy="219456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" y="19019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기준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2770632" y="1901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배점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576072" y="2139696"/>
            <a:ext cx="21488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70632" y="2139696"/>
            <a:ext cx="457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" y="213969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수 입력 → 변수 저장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770632" y="21396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76072" y="2523744"/>
            <a:ext cx="21488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70632" y="2523744"/>
            <a:ext cx="457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" y="25237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더하기 결과 출력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770632" y="252374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76072" y="2907792"/>
            <a:ext cx="21488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70632" y="2907792"/>
            <a:ext cx="457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" y="29077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빼기 결과 출력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770632" y="29077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76072" y="3291840"/>
            <a:ext cx="21488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70632" y="3291840"/>
            <a:ext cx="457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" y="3291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곱하기 결과 출력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2770632" y="3291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76072" y="3675888"/>
            <a:ext cx="21488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70632" y="3675888"/>
            <a:ext cx="457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" y="36758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나누기 결과 출력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2770632" y="36758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76072" y="41148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기준 추가  ·  배점 합계 100점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576072" y="4297680"/>
            <a:ext cx="118872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6072" y="42976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기준표 저장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3429000" y="1609344"/>
            <a:ext cx="271576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20440" y="16642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학생별 채점 결과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888736" y="1545336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870448" y="1534363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520440" y="1901952"/>
            <a:ext cx="253288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593592" y="1901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1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230368" y="1901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5815584" y="1988820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8" name="Shape 56"/>
          <p:cNvSpPr/>
          <p:nvPr/>
        </p:nvSpPr>
        <p:spPr>
          <a:xfrm>
            <a:off x="3520440" y="2194560"/>
            <a:ext cx="2532888" cy="256032"/>
          </a:xfrm>
          <a:prstGeom prst="rect">
            <a:avLst/>
          </a:prstGeom>
          <a:solidFill>
            <a:srgbClr val="EBF5FB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593592" y="21945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2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5230368" y="21945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5815584" y="2281428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2" name="Shape 60"/>
          <p:cNvSpPr/>
          <p:nvPr/>
        </p:nvSpPr>
        <p:spPr>
          <a:xfrm>
            <a:off x="3520440" y="2487168"/>
            <a:ext cx="253288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593592" y="24871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3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5230368" y="24871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5815584" y="2574036"/>
            <a:ext cx="82296" cy="8229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66" name="Shape 64"/>
          <p:cNvSpPr/>
          <p:nvPr/>
        </p:nvSpPr>
        <p:spPr>
          <a:xfrm>
            <a:off x="3520440" y="2779776"/>
            <a:ext cx="2532888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593592" y="27797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4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230368" y="27797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5815584" y="2866644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0" name="Shape 68"/>
          <p:cNvSpPr/>
          <p:nvPr/>
        </p:nvSpPr>
        <p:spPr>
          <a:xfrm>
            <a:off x="3429000" y="3273552"/>
            <a:ext cx="2715768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520440" y="33192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피드백 — 학생 2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5888736" y="3209544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870448" y="3198571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3520440" y="3529584"/>
            <a:ext cx="2532888" cy="56692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593592" y="3611880"/>
            <a:ext cx="2350008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6" name="Shape 74"/>
          <p:cNvSpPr/>
          <p:nvPr/>
        </p:nvSpPr>
        <p:spPr>
          <a:xfrm>
            <a:off x="3593592" y="3730752"/>
            <a:ext cx="2350008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7" name="Shape 75"/>
          <p:cNvSpPr/>
          <p:nvPr/>
        </p:nvSpPr>
        <p:spPr>
          <a:xfrm>
            <a:off x="3593592" y="3849624"/>
            <a:ext cx="1057504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8" name="Text 76"/>
          <p:cNvSpPr/>
          <p:nvPr/>
        </p:nvSpPr>
        <p:spPr>
          <a:xfrm>
            <a:off x="3520440" y="4169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점수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4206240" y="4187952"/>
            <a:ext cx="50292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206240" y="418795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5367528" y="4187952"/>
            <a:ext cx="685800" cy="237744"/>
          </a:xfrm>
          <a:prstGeom prst="roundRect">
            <a:avLst>
              <a:gd name="adj" fmla="val 15385"/>
            </a:avLst>
          </a:prstGeom>
          <a:solidFill>
            <a:srgbClr val="065A82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367528" y="418795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확정</a:t>
            </a:r>
            <a:endParaRPr lang="en-US" sz="650" dirty="0"/>
          </a:p>
        </p:txBody>
      </p:sp>
      <p:sp>
        <p:nvSpPr>
          <p:cNvPr id="83" name="Text 81"/>
          <p:cNvSpPr/>
          <p:nvPr/>
        </p:nvSpPr>
        <p:spPr>
          <a:xfrm>
            <a:off x="6400800" y="95097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구성 요소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6400800" y="1289304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382512" y="1278331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6693408" y="1280160"/>
            <a:ext cx="2039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활동 선택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채점 대상 실습 활동 선택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6400800" y="1911096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382512" y="1900123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6693408" y="1901952"/>
            <a:ext cx="2039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채점 기준표 (루브릭)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기준·배점 작성, 검증 완료 기반 설계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00800" y="2569464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382512" y="2558491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6693408" y="2560320"/>
            <a:ext cx="2039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자동 채점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기준별 부분 점수 산출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6400800" y="3154680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382512" y="3143707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6693408" y="3145536"/>
            <a:ext cx="2039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학생별 결과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점수·상태 일람, 미제출 표시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6400800" y="3776472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382512" y="3765499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6693408" y="3767328"/>
            <a:ext cx="2039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피드백 · 수동 수정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근거 피드백 확인, 교사 최종 확정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6400800" y="4370832"/>
            <a:ext cx="2331720" cy="475488"/>
          </a:xfrm>
          <a:prstGeom prst="roundRect">
            <a:avLst>
              <a:gd name="adj" fmla="val 9615"/>
            </a:avLst>
          </a:prstGeom>
          <a:solidFill>
            <a:srgbClr val="E0F0F7"/>
          </a:solidFill>
          <a:ln/>
        </p:spPr>
      </p:sp>
      <p:sp>
        <p:nvSpPr>
          <p:cNvPr id="100" name="Text 98"/>
          <p:cNvSpPr/>
          <p:nvPr/>
        </p:nvSpPr>
        <p:spPr>
          <a:xfrm>
            <a:off x="6492240" y="437083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여정 단계: 수업 중~후 — AI 1차 채점 + 교사 최종 확정 구조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WF-05  </a:t>
            </a:r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결과 대시보드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669280" y="30175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교사용 와이어프레임  |  수업 후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950976"/>
            <a:ext cx="5806440" cy="388620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5875">
            <a:solidFill>
              <a:srgbClr val="94A3B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969264"/>
            <a:ext cx="5769864" cy="21945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521208" y="1046988"/>
            <a:ext cx="64008" cy="6400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046988"/>
            <a:ext cx="64008" cy="6400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8" name="Shape 6"/>
          <p:cNvSpPr/>
          <p:nvPr/>
        </p:nvSpPr>
        <p:spPr>
          <a:xfrm>
            <a:off x="758952" y="1046988"/>
            <a:ext cx="64008" cy="6400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9" name="Shape 7"/>
          <p:cNvSpPr/>
          <p:nvPr/>
        </p:nvSpPr>
        <p:spPr>
          <a:xfrm>
            <a:off x="978408" y="1010412"/>
            <a:ext cx="2926080" cy="1280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" y="1243584"/>
            <a:ext cx="5660136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7784" y="1289304"/>
            <a:ext cx="123444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" y="128930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중학 정보 ▾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883664" y="1289304"/>
            <a:ext cx="123444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38528" y="128930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Ⅲ. 알고리즘 ▾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209544" y="1289304"/>
            <a:ext cx="123444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64408" y="128930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전체 ▾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553712" y="1170432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35424" y="1159459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" y="1609344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" y="16642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분석 결과 (학급 총평)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834640" y="1545336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16352" y="1534363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76072" y="1901952"/>
            <a:ext cx="2423160" cy="71323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" y="1993392"/>
            <a:ext cx="2240280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Shape 23"/>
          <p:cNvSpPr/>
          <p:nvPr/>
        </p:nvSpPr>
        <p:spPr>
          <a:xfrm>
            <a:off x="649224" y="2116836"/>
            <a:ext cx="2240280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Shape 24"/>
          <p:cNvSpPr/>
          <p:nvPr/>
        </p:nvSpPr>
        <p:spPr>
          <a:xfrm>
            <a:off x="649224" y="2240280"/>
            <a:ext cx="2240280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Shape 25"/>
          <p:cNvSpPr/>
          <p:nvPr/>
        </p:nvSpPr>
        <p:spPr>
          <a:xfrm>
            <a:off x="649224" y="2363724"/>
            <a:ext cx="1120140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Shape 26"/>
          <p:cNvSpPr/>
          <p:nvPr/>
        </p:nvSpPr>
        <p:spPr>
          <a:xfrm>
            <a:off x="576072" y="2688336"/>
            <a:ext cx="1143000" cy="237744"/>
          </a:xfrm>
          <a:prstGeom prst="rect">
            <a:avLst/>
          </a:prstGeom>
          <a:solidFill>
            <a:srgbClr val="EBF5F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" y="268833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강점: 반복문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1810512" y="2688336"/>
            <a:ext cx="1143000" cy="237744"/>
          </a:xfrm>
          <a:prstGeom prst="rect">
            <a:avLst/>
          </a:prstGeom>
          <a:solidFill>
            <a:srgbClr val="EBF5F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65376" y="268833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보완: 조건문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3200400" y="1609344"/>
            <a:ext cx="294436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0" y="166420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학급 학습 현황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888736" y="1545336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70448" y="1534363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91840" y="1901952"/>
            <a:ext cx="890016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91840" y="1938528"/>
            <a:ext cx="890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 진행률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3291840" y="2112264"/>
            <a:ext cx="89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227576" y="1901952"/>
            <a:ext cx="890016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27576" y="1938528"/>
            <a:ext cx="890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 실습 점수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4227576" y="2112264"/>
            <a:ext cx="89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163312" y="1901952"/>
            <a:ext cx="890016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63312" y="1938528"/>
            <a:ext cx="890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 테스트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5163312" y="2112264"/>
            <a:ext cx="89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337560" y="2781605"/>
            <a:ext cx="276606" cy="153619"/>
          </a:xfrm>
          <a:prstGeom prst="rect">
            <a:avLst/>
          </a:prstGeom>
          <a:solidFill>
            <a:srgbClr val="CBD5E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59886" y="2671877"/>
            <a:ext cx="276606" cy="263347"/>
          </a:xfrm>
          <a:prstGeom prst="rect">
            <a:avLst/>
          </a:prstGeom>
          <a:solidFill>
            <a:srgbClr val="CBD5E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982212" y="2737714"/>
            <a:ext cx="276606" cy="197510"/>
          </a:xfrm>
          <a:prstGeom prst="rect">
            <a:avLst/>
          </a:prstGeom>
          <a:solidFill>
            <a:srgbClr val="CBD5E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304538" y="2584094"/>
            <a:ext cx="276606" cy="351130"/>
          </a:xfrm>
          <a:prstGeom prst="rect">
            <a:avLst/>
          </a:prstGeom>
          <a:solidFill>
            <a:srgbClr val="CBD5E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26864" y="2693822"/>
            <a:ext cx="276606" cy="241402"/>
          </a:xfrm>
          <a:prstGeom prst="rect">
            <a:avLst/>
          </a:prstGeom>
          <a:solidFill>
            <a:srgbClr val="CBD5E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949190" y="2627986"/>
            <a:ext cx="276606" cy="307238"/>
          </a:xfrm>
          <a:prstGeom prst="rect">
            <a:avLst/>
          </a:prstGeom>
          <a:solidFill>
            <a:srgbClr val="CBD5E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271516" y="2759659"/>
            <a:ext cx="276606" cy="175565"/>
          </a:xfrm>
          <a:prstGeom prst="rect">
            <a:avLst/>
          </a:prstGeom>
          <a:solidFill>
            <a:srgbClr val="CBD5E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593842" y="2649931"/>
            <a:ext cx="276606" cy="285293"/>
          </a:xfrm>
          <a:prstGeom prst="rect">
            <a:avLst/>
          </a:prstGeom>
          <a:solidFill>
            <a:srgbClr val="CBD5E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4632" y="3154680"/>
            <a:ext cx="5660136" cy="14538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6072" y="320954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학생별 성취도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3593592" y="3090672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575304" y="3079699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76072" y="3429000"/>
            <a:ext cx="822960" cy="20116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1792" y="34290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이름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1399032" y="3429000"/>
            <a:ext cx="777240" cy="20116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444752" y="342900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진행률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2176272" y="3429000"/>
            <a:ext cx="777240" cy="20116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221992" y="342900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2953512" y="3429000"/>
            <a:ext cx="777240" cy="20116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999232" y="342900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3730752" y="3429000"/>
            <a:ext cx="1371600" cy="20116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776472" y="34290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추천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>
            <a:off x="576072" y="3630168"/>
            <a:ext cx="82296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399032" y="3630168"/>
            <a:ext cx="77724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176272" y="3630168"/>
            <a:ext cx="77724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953512" y="3630168"/>
            <a:ext cx="77724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730752" y="3630168"/>
            <a:ext cx="137160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21792" y="363016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1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3776472" y="36301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심화: 함수 실습</a:t>
            </a:r>
            <a:endParaRPr lang="en-US" sz="650" dirty="0"/>
          </a:p>
        </p:txBody>
      </p:sp>
      <p:sp>
        <p:nvSpPr>
          <p:cNvPr id="74" name="Shape 72"/>
          <p:cNvSpPr/>
          <p:nvPr/>
        </p:nvSpPr>
        <p:spPr>
          <a:xfrm>
            <a:off x="576072" y="3849624"/>
            <a:ext cx="82296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399032" y="3849624"/>
            <a:ext cx="77724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176272" y="3849624"/>
            <a:ext cx="77724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953512" y="3849624"/>
            <a:ext cx="77724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730752" y="3849624"/>
            <a:ext cx="137160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21792" y="384962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2</a:t>
            </a:r>
            <a:endParaRPr lang="en-US" sz="650" dirty="0"/>
          </a:p>
        </p:txBody>
      </p:sp>
      <p:sp>
        <p:nvSpPr>
          <p:cNvPr id="80" name="Text 78"/>
          <p:cNvSpPr/>
          <p:nvPr/>
        </p:nvSpPr>
        <p:spPr>
          <a:xfrm>
            <a:off x="3776472" y="384962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보충: 조건문 실습</a:t>
            </a:r>
            <a:endParaRPr lang="en-US" sz="650" dirty="0"/>
          </a:p>
        </p:txBody>
      </p:sp>
      <p:sp>
        <p:nvSpPr>
          <p:cNvPr id="81" name="Shape 79"/>
          <p:cNvSpPr/>
          <p:nvPr/>
        </p:nvSpPr>
        <p:spPr>
          <a:xfrm>
            <a:off x="576072" y="4069080"/>
            <a:ext cx="82296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399032" y="4069080"/>
            <a:ext cx="77724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176272" y="4069080"/>
            <a:ext cx="77724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953512" y="4069080"/>
            <a:ext cx="77724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730752" y="4069080"/>
            <a:ext cx="137160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21792" y="40690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3</a:t>
            </a:r>
            <a:endParaRPr lang="en-US" sz="650" dirty="0"/>
          </a:p>
        </p:txBody>
      </p:sp>
      <p:sp>
        <p:nvSpPr>
          <p:cNvPr id="87" name="Text 85"/>
          <p:cNvSpPr/>
          <p:nvPr/>
        </p:nvSpPr>
        <p:spPr>
          <a:xfrm>
            <a:off x="3776472" y="406908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심화: 함수 실습</a:t>
            </a:r>
            <a:endParaRPr lang="en-US" sz="650" dirty="0"/>
          </a:p>
        </p:txBody>
      </p:sp>
      <p:sp>
        <p:nvSpPr>
          <p:cNvPr id="88" name="Shape 86"/>
          <p:cNvSpPr/>
          <p:nvPr/>
        </p:nvSpPr>
        <p:spPr>
          <a:xfrm>
            <a:off x="4727448" y="4315968"/>
            <a:ext cx="1325880" cy="246888"/>
          </a:xfrm>
          <a:prstGeom prst="roundRect">
            <a:avLst>
              <a:gd name="adj" fmla="val 14815"/>
            </a:avLst>
          </a:prstGeom>
          <a:solidFill>
            <a:srgbClr val="065A82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27448" y="4315968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추천 학습 일괄 배포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4453128" y="4343400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434840" y="4332427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6400800" y="95097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구성 요소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6400800" y="1289304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382512" y="1278331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6693408" y="1280160"/>
            <a:ext cx="2039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정보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과목 · 단원 · 학생 필터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6400800" y="1911096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382512" y="1900123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6693408" y="1901952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분석 결과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학급 총평, 강점·보완 영역 태그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6400800" y="2514600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382512" y="2503627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6693408" y="2505456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학급 학습 현황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진행률·실습·테스트 평균과 분포 차트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6400800" y="3118104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382512" y="3107131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6693408" y="3108960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학생별 성취도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개인별 지표 + AI 추천 학습 표시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6400800" y="3721608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382512" y="3710635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6693408" y="3712464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추천 학습 배포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보충·심화 자료 일괄/개별 배포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6400800" y="4370832"/>
            <a:ext cx="2331720" cy="475488"/>
          </a:xfrm>
          <a:prstGeom prst="roundRect">
            <a:avLst>
              <a:gd name="adj" fmla="val 9615"/>
            </a:avLst>
          </a:prstGeom>
          <a:solidFill>
            <a:srgbClr val="E0F0F7"/>
          </a:solidFill>
          <a:ln/>
        </p:spPr>
      </p:sp>
      <p:sp>
        <p:nvSpPr>
          <p:cNvPr id="109" name="Text 107"/>
          <p:cNvSpPr/>
          <p:nvPr/>
        </p:nvSpPr>
        <p:spPr>
          <a:xfrm>
            <a:off x="6492240" y="437083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여정 단계: 수업 후 ⑦~⑧ — 데이터 기반 성찰과 다음 수업 설계로 순환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 </a:t>
            </a:r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학생용 화면 구성도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576072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메뉴 구조(Information Architecture)와 핵심 화면의 위치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0" y="25603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학생용 와이어프레임  |  구조 설계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572768" y="1207008"/>
            <a:ext cx="3657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32688"/>
            <a:ext cx="1115568" cy="548640"/>
          </a:xfrm>
          <a:prstGeom prst="roundRect">
            <a:avLst>
              <a:gd name="adj" fmla="val 8333"/>
            </a:avLst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32688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홈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01952" y="932688"/>
            <a:ext cx="1536192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47672" y="932688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오늘의 수업</a:t>
            </a:r>
            <a:pPr algn="ctr" indent="0" marL="0">
              <a:lnSpc>
                <a:spcPct val="100000"/>
              </a:lnSpc>
              <a:buNone/>
            </a:pP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WF-S02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566160" y="932688"/>
            <a:ext cx="1536192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932688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추천 학습</a:t>
            </a:r>
            <a:pPr algn="ctr" indent="0" marL="0">
              <a:lnSpc>
                <a:spcPct val="100000"/>
              </a:lnSpc>
              <a:buNone/>
            </a:pP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WF-S02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230368" y="932688"/>
            <a:ext cx="1536192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76088" y="932688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오늘의 기분</a:t>
            </a:r>
            <a:pPr algn="ctr" indent="0" marL="0">
              <a:lnSpc>
                <a:spcPct val="100000"/>
              </a:lnSpc>
              <a:buNone/>
            </a:pP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WF-S02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572768" y="1892808"/>
            <a:ext cx="532180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618488"/>
            <a:ext cx="1115568" cy="548640"/>
          </a:xfrm>
          <a:prstGeom prst="roundRect">
            <a:avLst>
              <a:gd name="adj" fmla="val 8333"/>
            </a:avLst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1618488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교과서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901952" y="1618488"/>
            <a:ext cx="1536192" cy="54864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47672" y="1618488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교과서 뷰어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566160" y="1618488"/>
            <a:ext cx="1536192" cy="54864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1880" y="1618488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글쓰기·저작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230368" y="1618488"/>
            <a:ext cx="1536192" cy="54864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76088" y="1618488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영상 학습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894576" y="1618488"/>
            <a:ext cx="1536192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0296" y="1618488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</a:t>
            </a:r>
            <a:pPr algn="ctr" indent="0" marL="0">
              <a:lnSpc>
                <a:spcPct val="100000"/>
              </a:lnSpc>
              <a:buNone/>
            </a:pP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WF-S03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572768" y="2578608"/>
            <a:ext cx="3657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304288"/>
            <a:ext cx="1115568" cy="548640"/>
          </a:xfrm>
          <a:prstGeom prst="roundRect">
            <a:avLst>
              <a:gd name="adj" fmla="val 8333"/>
            </a:avLst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2304288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지원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901952" y="2304288"/>
            <a:ext cx="1536192" cy="54864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47672" y="2304288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챗봇 (AI 헬피)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566160" y="2304288"/>
            <a:ext cx="1536192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11880" y="2304288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힌트 (단계별)</a:t>
            </a:r>
            <a:pPr algn="ctr" indent="0" marL="0">
              <a:lnSpc>
                <a:spcPct val="100000"/>
              </a:lnSpc>
              <a:buNone/>
            </a:pP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WF-S03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230368" y="2304288"/>
            <a:ext cx="1536192" cy="54864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76088" y="2304288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추천 학습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572768" y="3264408"/>
            <a:ext cx="3657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2990088"/>
            <a:ext cx="1115568" cy="548640"/>
          </a:xfrm>
          <a:prstGeom prst="roundRect">
            <a:avLst>
              <a:gd name="adj" fmla="val 8333"/>
            </a:avLst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2990088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901952" y="2990088"/>
            <a:ext cx="1536192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47672" y="2990088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현황</a:t>
            </a:r>
            <a:pPr algn="ctr" indent="0" marL="0">
              <a:lnSpc>
                <a:spcPct val="100000"/>
              </a:lnSpc>
              <a:buNone/>
            </a:pP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WF-S02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566160" y="2990088"/>
            <a:ext cx="1536192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11880" y="2990088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오답 노트</a:t>
            </a:r>
            <a:pPr algn="ctr" indent="0" marL="0">
              <a:lnSpc>
                <a:spcPct val="100000"/>
              </a:lnSpc>
              <a:buNone/>
            </a:pP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WF-S02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230368" y="2990088"/>
            <a:ext cx="1536192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76088" y="2990088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성취도 분석</a:t>
            </a:r>
            <a:pPr algn="ctr" indent="0" marL="0">
              <a:lnSpc>
                <a:spcPct val="100000"/>
              </a:lnSpc>
              <a:buNone/>
            </a:pP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WF-S02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760720" y="30815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</a:t>
            </a:r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와이어프레임 작성 대상    </a:t>
            </a:r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</a:t>
            </a:r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구조만 정의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57200" y="38404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화면 흐름 — 학생 학습 여정 기준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57200" y="4133088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4169664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WF-S02  학생 홈</a:t>
            </a:r>
            <a:endParaRPr lang="en-US" sz="7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(마이 대시보드)</a:t>
            </a:r>
            <a:endParaRPr lang="en-US" sz="7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전·후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1911096" y="4389120"/>
            <a:ext cx="128016" cy="128016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48" name="Shape 46"/>
          <p:cNvSpPr/>
          <p:nvPr/>
        </p:nvSpPr>
        <p:spPr>
          <a:xfrm>
            <a:off x="2075688" y="4133088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121408" y="4169664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교과서  교과서</a:t>
            </a:r>
            <a:endParaRPr lang="en-US" sz="7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뷰어</a:t>
            </a:r>
            <a:endParaRPr lang="en-US" sz="7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중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3529584" y="4389120"/>
            <a:ext cx="128016" cy="128016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51" name="Shape 49"/>
          <p:cNvSpPr/>
          <p:nvPr/>
        </p:nvSpPr>
        <p:spPr>
          <a:xfrm>
            <a:off x="3694176" y="4133088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39896" y="4169664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WF-S03  실습 화면</a:t>
            </a:r>
            <a:endParaRPr lang="en-US" sz="7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(엔트리·Python)</a:t>
            </a:r>
            <a:endParaRPr lang="en-US" sz="7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중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148072" y="4389120"/>
            <a:ext cx="128016" cy="128016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54" name="Shape 52"/>
          <p:cNvSpPr/>
          <p:nvPr/>
        </p:nvSpPr>
        <p:spPr>
          <a:xfrm>
            <a:off x="5312664" y="4133088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58384" y="4169664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지원  AI 챗봇·</a:t>
            </a:r>
            <a:endParaRPr lang="en-US" sz="7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힌트</a:t>
            </a:r>
            <a:endParaRPr lang="en-US" sz="7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중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766560" y="4389120"/>
            <a:ext cx="128016" cy="128016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57" name="Shape 55"/>
          <p:cNvSpPr/>
          <p:nvPr/>
        </p:nvSpPr>
        <p:spPr>
          <a:xfrm>
            <a:off x="6931152" y="4133088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976872" y="4169664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WF-S02  성취도·</a:t>
            </a:r>
            <a:endParaRPr lang="en-US" sz="7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오답노트</a:t>
            </a:r>
            <a:endParaRPr lang="en-US" sz="7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후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11480" y="4892040"/>
            <a:ext cx="8321040" cy="274320"/>
          </a:xfrm>
          <a:prstGeom prst="roundRect">
            <a:avLst>
              <a:gd name="adj" fmla="val 16667"/>
            </a:avLst>
          </a:prstGeom>
          <a:solidFill>
            <a:srgbClr val="EBF5FB"/>
          </a:solidFill>
          <a:ln/>
        </p:spPr>
      </p:sp>
      <p:sp>
        <p:nvSpPr>
          <p:cNvPr id="60" name="Text 58"/>
          <p:cNvSpPr/>
          <p:nvPr/>
        </p:nvSpPr>
        <p:spPr>
          <a:xfrm>
            <a:off x="502920" y="4892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실습 화면(WF-S03)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은 정보 교과 핵심 화면 — 엔트리(블록 코딩) / 파이썬(텍스트 코딩) 두 에디터 타입 포함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WF-S02  </a:t>
            </a:r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마이 대시보드 (홈)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669280" y="30175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학생용 와이어프레임  |  수업 전 · 후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950976"/>
            <a:ext cx="5806440" cy="388620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5875">
            <a:solidFill>
              <a:srgbClr val="94A3B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969264"/>
            <a:ext cx="5769864" cy="21945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521208" y="1046988"/>
            <a:ext cx="64008" cy="6400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046988"/>
            <a:ext cx="64008" cy="6400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8" name="Shape 6"/>
          <p:cNvSpPr/>
          <p:nvPr/>
        </p:nvSpPr>
        <p:spPr>
          <a:xfrm>
            <a:off x="758952" y="1046988"/>
            <a:ext cx="64008" cy="6400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9" name="Shape 7"/>
          <p:cNvSpPr/>
          <p:nvPr/>
        </p:nvSpPr>
        <p:spPr>
          <a:xfrm>
            <a:off x="978408" y="1010412"/>
            <a:ext cx="2926080" cy="1280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" y="1243584"/>
            <a:ext cx="5660136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" y="124358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399032" y="1444752"/>
            <a:ext cx="82296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1399032" y="124358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홈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404872" y="124358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교과서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410712" y="124358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지원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416552" y="124358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마이페이지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971032" y="1298448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Shape 16"/>
          <p:cNvSpPr/>
          <p:nvPr/>
        </p:nvSpPr>
        <p:spPr>
          <a:xfrm>
            <a:off x="5138928" y="1170432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1159459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4632" y="1609344"/>
            <a:ext cx="5660136" cy="438912"/>
          </a:xfrm>
          <a:prstGeom prst="roundRect">
            <a:avLst>
              <a:gd name="adj" fmla="val 10417"/>
            </a:avLst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" y="1609344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안녕하세요, 이민준 학생! 오늘도 함께 학습해봐요 🎯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67512" y="1847088"/>
            <a:ext cx="5349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D9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단원: Ⅲ-2-01  프로그래밍 시작하기  ·  진행률 68%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84632" y="2139696"/>
            <a:ext cx="1850136" cy="475488"/>
          </a:xfrm>
          <a:prstGeom prst="roundRect">
            <a:avLst>
              <a:gd name="adj" fmla="val 9615"/>
            </a:avLst>
          </a:prstGeom>
          <a:solidFill>
            <a:srgbClr val="EBF5FB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" y="213969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😊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2139696"/>
            <a:ext cx="1484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좋음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77240" y="2377440"/>
            <a:ext cx="1484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기분이 좋아요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389632" y="2139696"/>
            <a:ext cx="1850136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62784" y="213969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😐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682240" y="2139696"/>
            <a:ext cx="1484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보통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682240" y="2377440"/>
            <a:ext cx="1484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평범한 하루예요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294632" y="2139696"/>
            <a:ext cx="1850136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67784" y="213969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😔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87240" y="2139696"/>
            <a:ext cx="1484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관심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587240" y="2377440"/>
            <a:ext cx="1484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힘든 일이 있어요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5925312" y="2066544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07024" y="2055571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4632" y="2724912"/>
            <a:ext cx="2775204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94360" y="2798064"/>
            <a:ext cx="25557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학습 현황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003804" y="2651760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85516" y="2640787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76072" y="3054096"/>
            <a:ext cx="827532" cy="47548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6072" y="3090672"/>
            <a:ext cx="827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진행률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576072" y="3273552"/>
            <a:ext cx="8275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476756" y="3054096"/>
            <a:ext cx="827532" cy="47548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476756" y="3090672"/>
            <a:ext cx="827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점수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1476756" y="3273552"/>
            <a:ext cx="8275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82점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2377440" y="3054096"/>
            <a:ext cx="827532" cy="47548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0" y="3090672"/>
            <a:ext cx="827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2377440" y="3273552"/>
            <a:ext cx="8275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75점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94360" y="3602736"/>
            <a:ext cx="2519172" cy="914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1" name="Shape 49"/>
          <p:cNvSpPr/>
          <p:nvPr/>
        </p:nvSpPr>
        <p:spPr>
          <a:xfrm>
            <a:off x="594360" y="3602736"/>
            <a:ext cx="1713037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2" name="Shape 50"/>
          <p:cNvSpPr/>
          <p:nvPr/>
        </p:nvSpPr>
        <p:spPr>
          <a:xfrm>
            <a:off x="3369564" y="2724912"/>
            <a:ext cx="2775204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3479292" y="2798064"/>
            <a:ext cx="25557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AI 추천 학습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888736" y="2651760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70448" y="2640787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461004" y="3054096"/>
            <a:ext cx="2592324" cy="274320"/>
          </a:xfrm>
          <a:prstGeom prst="roundRect">
            <a:avLst>
              <a:gd name="adj" fmla="val 13333"/>
            </a:avLst>
          </a:prstGeom>
          <a:solidFill>
            <a:srgbClr val="EBF5FB"/>
          </a:solidFill>
          <a:ln/>
        </p:spPr>
      </p:sp>
      <p:sp>
        <p:nvSpPr>
          <p:cNvPr id="57" name="Shape 55"/>
          <p:cNvSpPr/>
          <p:nvPr/>
        </p:nvSpPr>
        <p:spPr>
          <a:xfrm>
            <a:off x="3552444" y="3140964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8" name="Text 56"/>
          <p:cNvSpPr/>
          <p:nvPr/>
        </p:nvSpPr>
        <p:spPr>
          <a:xfrm>
            <a:off x="3680460" y="3054096"/>
            <a:ext cx="23180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조건문 반복 실습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870448" y="305409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461004" y="3401568"/>
            <a:ext cx="2592324" cy="274320"/>
          </a:xfrm>
          <a:prstGeom prst="roundRect">
            <a:avLst>
              <a:gd name="adj" fmla="val 13333"/>
            </a:avLst>
          </a:prstGeom>
          <a:solidFill>
            <a:srgbClr val="EBF5FB"/>
          </a:solidFill>
          <a:ln/>
        </p:spPr>
      </p:sp>
      <p:sp>
        <p:nvSpPr>
          <p:cNvPr id="61" name="Shape 59"/>
          <p:cNvSpPr/>
          <p:nvPr/>
        </p:nvSpPr>
        <p:spPr>
          <a:xfrm>
            <a:off x="3552444" y="3488436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2" name="Text 60"/>
          <p:cNvSpPr/>
          <p:nvPr/>
        </p:nvSpPr>
        <p:spPr>
          <a:xfrm>
            <a:off x="3680460" y="3401568"/>
            <a:ext cx="23180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변수 활용하기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5870448" y="34015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3479292" y="3639312"/>
            <a:ext cx="25557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오답 기반 자동 추천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484632" y="3913632"/>
            <a:ext cx="277520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594360" y="3959352"/>
            <a:ext cx="18038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오답 노트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594360" y="4151376"/>
            <a:ext cx="25557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최근 오답 3문항 자동 수집 · 재도전 가능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2756916" y="403250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보기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3369564" y="3913632"/>
            <a:ext cx="277520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3479292" y="3959352"/>
            <a:ext cx="18038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성취도 분석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3479292" y="4151376"/>
            <a:ext cx="25557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영역별 그래프 · 이전 대비 성장 확인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5641848" y="403250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보기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3003804" y="3840480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985516" y="3829507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6400800" y="95097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구성 요소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6400800" y="1289304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382512" y="1278331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6693408" y="1280160"/>
            <a:ext cx="2039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GNB · 학생 메뉴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홈/교과서/AI지원/마이페이지, 선택 탭 강조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6400800" y="1947672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382512" y="1936699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6693408" y="1938528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오늘의 기분 (감정 체크)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3단계 감정 선택, 교사 대시보드에 집계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00800" y="2642616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382512" y="2631643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6693408" y="2633472"/>
            <a:ext cx="2039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현황 카드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진행률·실습·테스트 수치, 진행률 바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6400800" y="3300984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382512" y="3290011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6693408" y="3291840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추천 학습 카드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오답 기반 자동 추천, 클릭 시 해당 콘텐츠 이동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6400800" y="3995928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382512" y="3984955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6693408" y="3986784"/>
            <a:ext cx="2039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오답 노트 · 성취도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 대시보드 핵심 영역 바로가기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6400800" y="4370832"/>
            <a:ext cx="2331720" cy="475488"/>
          </a:xfrm>
          <a:prstGeom prst="roundRect">
            <a:avLst>
              <a:gd name="adj" fmla="val 9615"/>
            </a:avLst>
          </a:prstGeom>
          <a:solidFill>
            <a:srgbClr val="E0F0F7"/>
          </a:solidFill>
          <a:ln/>
        </p:spPr>
      </p:sp>
      <p:sp>
        <p:nvSpPr>
          <p:cNvPr id="92" name="Text 90"/>
          <p:cNvSpPr/>
          <p:nvPr/>
        </p:nvSpPr>
        <p:spPr>
          <a:xfrm>
            <a:off x="6492240" y="437083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여정 단계: 수업 전·후 — 학생 스스로 현황 파악과 자기주도 학습의 시작점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WF-S03a  </a:t>
            </a:r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화면 — 엔트리 (블록 코딩)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669280" y="30175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학생용 와이어프레임  |  수업 중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950976"/>
            <a:ext cx="5806440" cy="388620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5875">
            <a:solidFill>
              <a:srgbClr val="94A3B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969264"/>
            <a:ext cx="5769864" cy="21945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521208" y="1046988"/>
            <a:ext cx="64008" cy="6400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046988"/>
            <a:ext cx="64008" cy="6400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8" name="Shape 6"/>
          <p:cNvSpPr/>
          <p:nvPr/>
        </p:nvSpPr>
        <p:spPr>
          <a:xfrm>
            <a:off x="758952" y="1046988"/>
            <a:ext cx="64008" cy="6400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9" name="Shape 7"/>
          <p:cNvSpPr/>
          <p:nvPr/>
        </p:nvSpPr>
        <p:spPr>
          <a:xfrm>
            <a:off x="978408" y="1010412"/>
            <a:ext cx="2926080" cy="1280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" y="1243584"/>
            <a:ext cx="5660136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" y="12435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돌아가기  /  정보 AI 코스웨어  &gt;  Ⅲ. 알고리즘  &gt;  캐릭터 움직이기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4050792" y="1289304"/>
            <a:ext cx="1115568" cy="201168"/>
          </a:xfrm>
          <a:prstGeom prst="roundRect">
            <a:avLst>
              <a:gd name="adj" fmla="val 18182"/>
            </a:avLst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50792" y="1289304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블록 코딩 · 엔트리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5239512" y="1289304"/>
            <a:ext cx="111556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9512" y="1289304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377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 코딩 · 파이썬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3941064" y="1216152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22776" y="1205179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138928" y="1280160"/>
            <a:ext cx="932688" cy="219456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38928" y="1280160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 제출 · 채점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047488" y="1170432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1159459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" y="1609344"/>
            <a:ext cx="5660136" cy="182880"/>
          </a:xfrm>
          <a:prstGeom prst="rect">
            <a:avLst/>
          </a:prstGeom>
          <a:solidFill>
            <a:srgbClr val="FFFDE7"/>
          </a:solidFill>
          <a:ln w="9525">
            <a:solidFill>
              <a:srgbClr val="FFD6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1609344"/>
            <a:ext cx="5349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👨‍🏫 교사 모드 — 학생 화면을 미리 보고 있습니다.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76072" y="1847088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576072" y="1847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1단계</a:t>
            </a:r>
            <a:endParaRPr lang="en-US" sz="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941832" y="2020824"/>
            <a:ext cx="32918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89304" y="1847088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1289304" y="1847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2단계</a:t>
            </a:r>
            <a:endParaRPr lang="en-US" sz="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1655064" y="2020824"/>
            <a:ext cx="32918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02536" y="1847088"/>
            <a:ext cx="347472" cy="34747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31" name="Text 29"/>
          <p:cNvSpPr/>
          <p:nvPr/>
        </p:nvSpPr>
        <p:spPr>
          <a:xfrm>
            <a:off x="2002536" y="1847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3단계</a:t>
            </a:r>
            <a:endParaRPr lang="en-US" sz="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미완료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2368296" y="2020824"/>
            <a:ext cx="32918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15768" y="1847088"/>
            <a:ext cx="347472" cy="34747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2715768" y="1847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</a:t>
            </a:r>
            <a:endParaRPr lang="en-US" sz="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530352" y="1773936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" y="1762963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4632" y="2286000"/>
            <a:ext cx="1417320" cy="2496312"/>
          </a:xfrm>
          <a:prstGeom prst="roundRect">
            <a:avLst>
              <a:gd name="adj" fmla="val 2581"/>
            </a:avLst>
          </a:prstGeom>
          <a:solidFill>
            <a:srgbClr val="EBF5FB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4632" y="2286000"/>
            <a:ext cx="1417320" cy="219456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39" name="Shape 37"/>
          <p:cNvSpPr/>
          <p:nvPr/>
        </p:nvSpPr>
        <p:spPr>
          <a:xfrm>
            <a:off x="484632" y="2414016"/>
            <a:ext cx="141732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0" name="Text 38"/>
          <p:cNvSpPr/>
          <p:nvPr/>
        </p:nvSpPr>
        <p:spPr>
          <a:xfrm>
            <a:off x="539496" y="2286000"/>
            <a:ext cx="1307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보조 학습 자료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84632" y="2505456"/>
            <a:ext cx="47244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" y="2505456"/>
            <a:ext cx="472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957072" y="2505456"/>
            <a:ext cx="472440" cy="219456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57072" y="2505456"/>
            <a:ext cx="472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힌트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429512" y="2505456"/>
            <a:ext cx="472440" cy="219456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429512" y="2505456"/>
            <a:ext cx="472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제출이력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1792224" y="2450592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773936" y="2439619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76072" y="276148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캐릭터를 4번 반복해서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이동시키세요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76072" y="325526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반복 블록을 이동 블록 위에 씌워서 캐릭터가 오른쪽으로 4번 이동하게 만드세요.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76072" y="376732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달성 조건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594360" y="4032504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3" name="Text 51"/>
          <p:cNvSpPr/>
          <p:nvPr/>
        </p:nvSpPr>
        <p:spPr>
          <a:xfrm>
            <a:off x="594360" y="400507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758952" y="396849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시작하기 블록 사용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94360" y="4306824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6" name="Text 54"/>
          <p:cNvSpPr/>
          <p:nvPr/>
        </p:nvSpPr>
        <p:spPr>
          <a:xfrm>
            <a:off x="594360" y="427939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758952" y="424281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x좌표 이동 블록 사용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594360" y="4581144"/>
            <a:ext cx="128016" cy="128016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59" name="Text 57"/>
          <p:cNvSpPr/>
          <p:nvPr/>
        </p:nvSpPr>
        <p:spPr>
          <a:xfrm>
            <a:off x="758952" y="451713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4번 반복 블록 사용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594360" y="4855464"/>
            <a:ext cx="128016" cy="128016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61" name="Text 59"/>
          <p:cNvSpPr/>
          <p:nvPr/>
        </p:nvSpPr>
        <p:spPr>
          <a:xfrm>
            <a:off x="758952" y="479145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캐릭터 오른쪽 끝 도달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576072" y="4398264"/>
            <a:ext cx="123444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76072" y="43982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AI 힌트 보기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1993392" y="2286000"/>
            <a:ext cx="4151376" cy="2496312"/>
          </a:xfrm>
          <a:prstGeom prst="roundRect">
            <a:avLst>
              <a:gd name="adj" fmla="val 1465"/>
            </a:avLst>
          </a:prstGeom>
          <a:solidFill>
            <a:srgbClr val="FFFFFF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993392" y="2286000"/>
            <a:ext cx="4151376" cy="219456"/>
          </a:xfrm>
          <a:prstGeom prst="roundRect">
            <a:avLst>
              <a:gd name="adj" fmla="val 16667"/>
            </a:avLst>
          </a:prstGeom>
          <a:solidFill>
            <a:srgbClr val="4CAF50"/>
          </a:solidFill>
          <a:ln/>
        </p:spPr>
      </p:sp>
      <p:sp>
        <p:nvSpPr>
          <p:cNvPr id="66" name="Shape 64"/>
          <p:cNvSpPr/>
          <p:nvPr/>
        </p:nvSpPr>
        <p:spPr>
          <a:xfrm>
            <a:off x="1993392" y="2414016"/>
            <a:ext cx="4151376" cy="914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7" name="Text 65"/>
          <p:cNvSpPr/>
          <p:nvPr/>
        </p:nvSpPr>
        <p:spPr>
          <a:xfrm>
            <a:off x="2084832" y="2286000"/>
            <a:ext cx="3968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실습 에디터 — 엔트리 (블록 코딩)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2039112" y="2542032"/>
            <a:ext cx="1743578" cy="1408633"/>
          </a:xfrm>
          <a:prstGeom prst="rect">
            <a:avLst/>
          </a:prstGeom>
          <a:solidFill>
            <a:srgbClr val="F0FFF4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084832" y="2587752"/>
            <a:ext cx="16521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오브젝트 / 캔버스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2823667" y="2816352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1" name="Text 69"/>
          <p:cNvSpPr/>
          <p:nvPr/>
        </p:nvSpPr>
        <p:spPr>
          <a:xfrm>
            <a:off x="2777947" y="321868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캐릭터</a:t>
            </a:r>
            <a:endParaRPr lang="en-US" sz="600" dirty="0"/>
          </a:p>
        </p:txBody>
      </p:sp>
      <p:sp>
        <p:nvSpPr>
          <p:cNvPr id="72" name="Shape 70"/>
          <p:cNvSpPr/>
          <p:nvPr/>
        </p:nvSpPr>
        <p:spPr>
          <a:xfrm>
            <a:off x="2066544" y="3621481"/>
            <a:ext cx="830275" cy="256032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066544" y="3621481"/>
            <a:ext cx="8302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오브젝트</a:t>
            </a:r>
            <a:endParaRPr lang="en-US" sz="600" dirty="0"/>
          </a:p>
        </p:txBody>
      </p:sp>
      <p:sp>
        <p:nvSpPr>
          <p:cNvPr id="74" name="Shape 72"/>
          <p:cNvSpPr/>
          <p:nvPr/>
        </p:nvSpPr>
        <p:spPr>
          <a:xfrm>
            <a:off x="2865181" y="3621481"/>
            <a:ext cx="830275" cy="256032"/>
          </a:xfrm>
          <a:prstGeom prst="roundRect">
            <a:avLst>
              <a:gd name="adj" fmla="val 14286"/>
            </a:avLst>
          </a:prstGeom>
          <a:solidFill>
            <a:srgbClr val="4CAF50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865181" y="3621481"/>
            <a:ext cx="8302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시작</a:t>
            </a:r>
            <a:endParaRPr lang="en-US" sz="600" dirty="0"/>
          </a:p>
        </p:txBody>
      </p:sp>
      <p:sp>
        <p:nvSpPr>
          <p:cNvPr id="76" name="Shape 74"/>
          <p:cNvSpPr/>
          <p:nvPr/>
        </p:nvSpPr>
        <p:spPr>
          <a:xfrm>
            <a:off x="3824204" y="2542032"/>
            <a:ext cx="347472" cy="1408633"/>
          </a:xfrm>
          <a:prstGeom prst="rect">
            <a:avLst/>
          </a:prstGeom>
          <a:solidFill>
            <a:srgbClr val="F9F9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897356" y="2578608"/>
            <a:ext cx="201168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8" name="Text 76"/>
          <p:cNvSpPr/>
          <p:nvPr/>
        </p:nvSpPr>
        <p:spPr>
          <a:xfrm>
            <a:off x="3879068" y="257860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</a:t>
            </a:r>
            <a:endParaRPr lang="en-US" sz="550" dirty="0"/>
          </a:p>
        </p:txBody>
      </p:sp>
      <p:sp>
        <p:nvSpPr>
          <p:cNvPr id="79" name="Shape 77"/>
          <p:cNvSpPr/>
          <p:nvPr/>
        </p:nvSpPr>
        <p:spPr>
          <a:xfrm>
            <a:off x="3897356" y="2779776"/>
            <a:ext cx="201168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0" name="Text 78"/>
          <p:cNvSpPr/>
          <p:nvPr/>
        </p:nvSpPr>
        <p:spPr>
          <a:xfrm>
            <a:off x="3879068" y="277977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흐름</a:t>
            </a:r>
            <a:endParaRPr lang="en-US" sz="550" dirty="0"/>
          </a:p>
        </p:txBody>
      </p:sp>
      <p:sp>
        <p:nvSpPr>
          <p:cNvPr id="81" name="Shape 79"/>
          <p:cNvSpPr/>
          <p:nvPr/>
        </p:nvSpPr>
        <p:spPr>
          <a:xfrm>
            <a:off x="3897356" y="2980944"/>
            <a:ext cx="201168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2" name="Text 80"/>
          <p:cNvSpPr/>
          <p:nvPr/>
        </p:nvSpPr>
        <p:spPr>
          <a:xfrm>
            <a:off x="3879068" y="298094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움직임</a:t>
            </a:r>
            <a:endParaRPr lang="en-US" sz="550" dirty="0"/>
          </a:p>
        </p:txBody>
      </p:sp>
      <p:sp>
        <p:nvSpPr>
          <p:cNvPr id="83" name="Shape 81"/>
          <p:cNvSpPr/>
          <p:nvPr/>
        </p:nvSpPr>
        <p:spPr>
          <a:xfrm>
            <a:off x="3897356" y="3182112"/>
            <a:ext cx="201168" cy="164592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84" name="Text 82"/>
          <p:cNvSpPr/>
          <p:nvPr/>
        </p:nvSpPr>
        <p:spPr>
          <a:xfrm>
            <a:off x="3879068" y="318211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생김새</a:t>
            </a:r>
            <a:endParaRPr lang="en-US" sz="550" dirty="0"/>
          </a:p>
        </p:txBody>
      </p:sp>
      <p:sp>
        <p:nvSpPr>
          <p:cNvPr id="85" name="Shape 83"/>
          <p:cNvSpPr/>
          <p:nvPr/>
        </p:nvSpPr>
        <p:spPr>
          <a:xfrm>
            <a:off x="3897356" y="3383280"/>
            <a:ext cx="201168" cy="16459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86" name="Text 84"/>
          <p:cNvSpPr/>
          <p:nvPr/>
        </p:nvSpPr>
        <p:spPr>
          <a:xfrm>
            <a:off x="3879068" y="338328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붓</a:t>
            </a:r>
            <a:endParaRPr lang="en-US" sz="550" dirty="0"/>
          </a:p>
        </p:txBody>
      </p:sp>
      <p:sp>
        <p:nvSpPr>
          <p:cNvPr id="87" name="Shape 85"/>
          <p:cNvSpPr/>
          <p:nvPr/>
        </p:nvSpPr>
        <p:spPr>
          <a:xfrm>
            <a:off x="3897356" y="3584448"/>
            <a:ext cx="201168" cy="16459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88" name="Text 86"/>
          <p:cNvSpPr/>
          <p:nvPr/>
        </p:nvSpPr>
        <p:spPr>
          <a:xfrm>
            <a:off x="3879068" y="358444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소리</a:t>
            </a:r>
            <a:endParaRPr lang="en-US" sz="550" dirty="0"/>
          </a:p>
        </p:txBody>
      </p:sp>
      <p:sp>
        <p:nvSpPr>
          <p:cNvPr id="89" name="Shape 87"/>
          <p:cNvSpPr/>
          <p:nvPr/>
        </p:nvSpPr>
        <p:spPr>
          <a:xfrm>
            <a:off x="4208252" y="2542032"/>
            <a:ext cx="3236976" cy="1408633"/>
          </a:xfrm>
          <a:prstGeom prst="rect">
            <a:avLst/>
          </a:prstGeom>
          <a:solidFill>
            <a:srgbClr val="FAFA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253972" y="2615184"/>
            <a:ext cx="3145536" cy="219456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/>
        </p:spPr>
      </p:sp>
      <p:sp>
        <p:nvSpPr>
          <p:cNvPr id="91" name="Text 89"/>
          <p:cNvSpPr/>
          <p:nvPr/>
        </p:nvSpPr>
        <p:spPr>
          <a:xfrm>
            <a:off x="4317980" y="2615184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시작하기 버튼을 클릭했을 때</a:t>
            </a:r>
            <a:endParaRPr lang="en-US" sz="650" dirty="0"/>
          </a:p>
        </p:txBody>
      </p:sp>
      <p:sp>
        <p:nvSpPr>
          <p:cNvPr id="92" name="Shape 90"/>
          <p:cNvSpPr/>
          <p:nvPr/>
        </p:nvSpPr>
        <p:spPr>
          <a:xfrm>
            <a:off x="4308836" y="2889504"/>
            <a:ext cx="3090672" cy="219456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/>
        </p:spPr>
      </p:sp>
      <p:sp>
        <p:nvSpPr>
          <p:cNvPr id="93" name="Text 91"/>
          <p:cNvSpPr/>
          <p:nvPr/>
        </p:nvSpPr>
        <p:spPr>
          <a:xfrm>
            <a:off x="4372844" y="2889504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번 반복하기  ∧</a:t>
            </a:r>
            <a:endParaRPr lang="en-US" sz="650" dirty="0"/>
          </a:p>
        </p:txBody>
      </p:sp>
      <p:sp>
        <p:nvSpPr>
          <p:cNvPr id="94" name="Shape 92"/>
          <p:cNvSpPr/>
          <p:nvPr/>
        </p:nvSpPr>
        <p:spPr>
          <a:xfrm>
            <a:off x="4363700" y="3163824"/>
            <a:ext cx="3035808" cy="219456"/>
          </a:xfrm>
          <a:prstGeom prst="roundRect">
            <a:avLst>
              <a:gd name="adj" fmla="val 12500"/>
            </a:avLst>
          </a:prstGeom>
          <a:solidFill>
            <a:srgbClr val="3B82F6"/>
          </a:solidFill>
          <a:ln/>
        </p:spPr>
      </p:sp>
      <p:sp>
        <p:nvSpPr>
          <p:cNvPr id="95" name="Text 93"/>
          <p:cNvSpPr/>
          <p:nvPr/>
        </p:nvSpPr>
        <p:spPr>
          <a:xfrm>
            <a:off x="4427708" y="3163824"/>
            <a:ext cx="3584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이동 방향으로 10 만큼 움직이기</a:t>
            </a:r>
            <a:endParaRPr lang="en-US" sz="650" dirty="0"/>
          </a:p>
        </p:txBody>
      </p:sp>
      <p:sp>
        <p:nvSpPr>
          <p:cNvPr id="96" name="Shape 94"/>
          <p:cNvSpPr/>
          <p:nvPr/>
        </p:nvSpPr>
        <p:spPr>
          <a:xfrm>
            <a:off x="2039112" y="3987241"/>
            <a:ext cx="4059936" cy="650138"/>
          </a:xfrm>
          <a:prstGeom prst="rect">
            <a:avLst/>
          </a:prstGeom>
          <a:solidFill>
            <a:srgbClr val="FFF8F0"/>
          </a:solidFill>
          <a:ln w="9525">
            <a:solidFill>
              <a:srgbClr val="FED7A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103120" y="4023817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결과 확인 영역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5888736" y="3914089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870448" y="3903116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2103120" y="4206697"/>
            <a:ext cx="3877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제출·채점 버튼 클릭 시 달성 조건 자동 확인</a:t>
            </a:r>
            <a:endParaRPr lang="en-US" sz="750" dirty="0"/>
          </a:p>
        </p:txBody>
      </p:sp>
      <p:sp>
        <p:nvSpPr>
          <p:cNvPr id="101" name="Text 99"/>
          <p:cNvSpPr/>
          <p:nvPr/>
        </p:nvSpPr>
        <p:spPr>
          <a:xfrm>
            <a:off x="6400800" y="95097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구성 요소</a:t>
            </a:r>
            <a:endParaRPr lang="en-US" sz="1200" dirty="0"/>
          </a:p>
        </p:txBody>
      </p:sp>
      <p:sp>
        <p:nvSpPr>
          <p:cNvPr id="102" name="Shape 100"/>
          <p:cNvSpPr/>
          <p:nvPr/>
        </p:nvSpPr>
        <p:spPr>
          <a:xfrm>
            <a:off x="6400800" y="1289304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382512" y="1278331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6693408" y="1280160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에디터 타입 선택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 코딩(엔트리) / 텍스트 코딩(파이썬) 탭 전환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6400800" y="1984248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382512" y="1973275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6693408" y="1975104"/>
            <a:ext cx="2039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 스텝퍼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1·2·3단계·최종 완료 진행 상태 표시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6400800" y="2642616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382512" y="2631643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10" name="Text 108"/>
          <p:cNvSpPr/>
          <p:nvPr/>
        </p:nvSpPr>
        <p:spPr>
          <a:xfrm>
            <a:off x="6693408" y="2633472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보조 자료·달성조건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문제·힌트·제출이력 탭, 달성조건 체크리스트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6400800" y="3337560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382512" y="3326587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13" name="Text 111"/>
          <p:cNvSpPr/>
          <p:nvPr/>
        </p:nvSpPr>
        <p:spPr>
          <a:xfrm>
            <a:off x="6693408" y="3328416"/>
            <a:ext cx="2039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실습 에디터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엔트리: 블록 팔레트+코드 영역 / 파이썬: 다크 텍스트 에디터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6400800" y="4123944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382512" y="4112971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116" name="Text 114"/>
          <p:cNvSpPr/>
          <p:nvPr/>
        </p:nvSpPr>
        <p:spPr>
          <a:xfrm>
            <a:off x="6693408" y="4114800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채점·제출·다음 자료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제출·채점 버튼, TC 결과, 이전/다음 자료 네비게이션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6400800" y="4370832"/>
            <a:ext cx="2331720" cy="475488"/>
          </a:xfrm>
          <a:prstGeom prst="roundRect">
            <a:avLst>
              <a:gd name="adj" fmla="val 9615"/>
            </a:avLst>
          </a:prstGeom>
          <a:solidFill>
            <a:srgbClr val="E0F0F7"/>
          </a:solidFill>
          <a:ln/>
        </p:spPr>
      </p:sp>
      <p:sp>
        <p:nvSpPr>
          <p:cNvPr id="118" name="Text 116"/>
          <p:cNvSpPr/>
          <p:nvPr/>
        </p:nvSpPr>
        <p:spPr>
          <a:xfrm>
            <a:off x="6492240" y="437083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여정 단계: 수업 중 ⑤ — 정보 교과 핵심 기능 · 엔트리 블록 코딩 (중등 중심)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WF-S03b  </a:t>
            </a:r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화면 — 파이썬 (텍스트 코딩, 고등)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669280" y="30175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학생용 와이어프레임  |  수업 중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950976"/>
            <a:ext cx="5806440" cy="388620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5875">
            <a:solidFill>
              <a:srgbClr val="94A3B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969264"/>
            <a:ext cx="5769864" cy="21945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521208" y="1046988"/>
            <a:ext cx="64008" cy="6400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046988"/>
            <a:ext cx="64008" cy="6400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8" name="Shape 6"/>
          <p:cNvSpPr/>
          <p:nvPr/>
        </p:nvSpPr>
        <p:spPr>
          <a:xfrm>
            <a:off x="758952" y="1046988"/>
            <a:ext cx="64008" cy="6400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9" name="Shape 7"/>
          <p:cNvSpPr/>
          <p:nvPr/>
        </p:nvSpPr>
        <p:spPr>
          <a:xfrm>
            <a:off x="978408" y="1010412"/>
            <a:ext cx="2926080" cy="1280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" y="1243584"/>
            <a:ext cx="5660136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" y="12435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돌아가기  /  정보 AI 코스웨어  &gt;  Ⅲ. 프로그래밍  &gt;  변수 출력하기 (파이썬)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4050792" y="1289304"/>
            <a:ext cx="111556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50792" y="1289304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 코딩 · 엔트리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5239512" y="1289304"/>
            <a:ext cx="1115568" cy="201168"/>
          </a:xfrm>
          <a:prstGeom prst="roundRect">
            <a:avLst>
              <a:gd name="adj" fmla="val 18182"/>
            </a:avLst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9512" y="1289304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텍스트 코딩 · 파이썬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3941064" y="1216152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22776" y="1205179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138928" y="1280160"/>
            <a:ext cx="932688" cy="219456"/>
          </a:xfrm>
          <a:prstGeom prst="roundRect">
            <a:avLst>
              <a:gd name="adj" fmla="val 16667"/>
            </a:avLst>
          </a:prstGeom>
          <a:solidFill>
            <a:srgbClr val="3776AB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38928" y="1280160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 제출 · 채점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047488" y="1170432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1159459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" y="1609344"/>
            <a:ext cx="5660136" cy="182880"/>
          </a:xfrm>
          <a:prstGeom prst="rect">
            <a:avLst/>
          </a:prstGeom>
          <a:solidFill>
            <a:srgbClr val="FFFDE7"/>
          </a:solidFill>
          <a:ln w="9525">
            <a:solidFill>
              <a:srgbClr val="FFD6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1609344"/>
            <a:ext cx="5349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👨‍🏫 교사 모드 — 학생 화면을 미리 보고 있습니다.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76072" y="1847088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576072" y="1847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1단계</a:t>
            </a:r>
            <a:endParaRPr lang="en-US" sz="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941832" y="2020824"/>
            <a:ext cx="32918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89304" y="1847088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1289304" y="1847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2단계</a:t>
            </a:r>
            <a:endParaRPr lang="en-US" sz="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1655064" y="2020824"/>
            <a:ext cx="32918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02536" y="1847088"/>
            <a:ext cx="347472" cy="347472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31" name="Text 29"/>
          <p:cNvSpPr/>
          <p:nvPr/>
        </p:nvSpPr>
        <p:spPr>
          <a:xfrm>
            <a:off x="2002536" y="1847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3단계</a:t>
            </a:r>
            <a:endParaRPr lang="en-US" sz="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2368296" y="2020824"/>
            <a:ext cx="329184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15768" y="1847088"/>
            <a:ext cx="347472" cy="34747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2715768" y="1847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</a:t>
            </a:r>
            <a:endParaRPr lang="en-US" sz="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미완료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530352" y="1773936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" y="1762963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4632" y="2286000"/>
            <a:ext cx="1371600" cy="2496312"/>
          </a:xfrm>
          <a:prstGeom prst="roundRect">
            <a:avLst>
              <a:gd name="adj" fmla="val 2667"/>
            </a:avLst>
          </a:prstGeom>
          <a:solidFill>
            <a:srgbClr val="EBF5FB"/>
          </a:solidFill>
          <a:ln w="19050">
            <a:solidFill>
              <a:srgbClr val="3776A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4632" y="2286000"/>
            <a:ext cx="1371600" cy="219456"/>
          </a:xfrm>
          <a:prstGeom prst="roundRect">
            <a:avLst>
              <a:gd name="adj" fmla="val 16667"/>
            </a:avLst>
          </a:prstGeom>
          <a:solidFill>
            <a:srgbClr val="3776AB"/>
          </a:solidFill>
          <a:ln/>
        </p:spPr>
      </p:sp>
      <p:sp>
        <p:nvSpPr>
          <p:cNvPr id="39" name="Shape 37"/>
          <p:cNvSpPr/>
          <p:nvPr/>
        </p:nvSpPr>
        <p:spPr>
          <a:xfrm>
            <a:off x="484632" y="2414016"/>
            <a:ext cx="1371600" cy="91440"/>
          </a:xfrm>
          <a:prstGeom prst="rect">
            <a:avLst/>
          </a:prstGeom>
          <a:solidFill>
            <a:srgbClr val="3776AB"/>
          </a:solidFill>
          <a:ln/>
        </p:spPr>
      </p:sp>
      <p:sp>
        <p:nvSpPr>
          <p:cNvPr id="40" name="Text 38"/>
          <p:cNvSpPr/>
          <p:nvPr/>
        </p:nvSpPr>
        <p:spPr>
          <a:xfrm>
            <a:off x="539496" y="228600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보조 학습 자료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84632" y="2505456"/>
            <a:ext cx="45720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3776A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" y="250545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377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941832" y="2505456"/>
            <a:ext cx="457200" cy="219456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41832" y="250545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힌트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399032" y="2505456"/>
            <a:ext cx="457200" cy="219456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399032" y="250545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제출이력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1746504" y="2450592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728216" y="2439619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76072" y="276148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변수를 선언하고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출력하세요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76072" y="321868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name과 score를 변수로 선언하고 f-string으로 출력하세요.</a:t>
            </a:r>
            <a:endParaRPr lang="en-US" sz="7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string으로 출력하세요.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76072" y="371246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케이스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576072" y="3913632"/>
            <a:ext cx="1188720" cy="219456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0936" y="39136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377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1051560" y="391363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이름 · 점수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576072" y="4187952"/>
            <a:ext cx="1188720" cy="219456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936" y="4187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377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1051560" y="418795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이름:김미래 / 점수:90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76072" y="449884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달성 조건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594360" y="4773168"/>
            <a:ext cx="128016" cy="128016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60" name="Text 58"/>
          <p:cNvSpPr/>
          <p:nvPr/>
        </p:nvSpPr>
        <p:spPr>
          <a:xfrm>
            <a:off x="594360" y="4745736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758952" y="471830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변수 name 선언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594360" y="5029200"/>
            <a:ext cx="128016" cy="128016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63" name="Text 61"/>
          <p:cNvSpPr/>
          <p:nvPr/>
        </p:nvSpPr>
        <p:spPr>
          <a:xfrm>
            <a:off x="594360" y="5001768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758952" y="497433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변수 score 선언 및 할당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594360" y="5285232"/>
            <a:ext cx="128016" cy="128016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66" name="Text 64"/>
          <p:cNvSpPr/>
          <p:nvPr/>
        </p:nvSpPr>
        <p:spPr>
          <a:xfrm>
            <a:off x="758952" y="52303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print() 로 출력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576072" y="4398264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76072" y="43982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AI 힌트 보기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1947672" y="2286000"/>
            <a:ext cx="2825496" cy="2496312"/>
          </a:xfrm>
          <a:prstGeom prst="roundRect">
            <a:avLst>
              <a:gd name="adj" fmla="val 1465"/>
            </a:avLst>
          </a:prstGeom>
          <a:solidFill>
            <a:srgbClr val="FFFFFF"/>
          </a:solidFill>
          <a:ln w="19050">
            <a:solidFill>
              <a:srgbClr val="3776A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947672" y="2286000"/>
            <a:ext cx="2825496" cy="256032"/>
          </a:xfrm>
          <a:prstGeom prst="roundRect">
            <a:avLst>
              <a:gd name="adj" fmla="val 14286"/>
            </a:avLst>
          </a:prstGeom>
          <a:solidFill>
            <a:srgbClr val="2D2D2D"/>
          </a:solidFill>
          <a:ln/>
        </p:spPr>
      </p:sp>
      <p:sp>
        <p:nvSpPr>
          <p:cNvPr id="71" name="Shape 69"/>
          <p:cNvSpPr/>
          <p:nvPr/>
        </p:nvSpPr>
        <p:spPr>
          <a:xfrm>
            <a:off x="1947672" y="2450592"/>
            <a:ext cx="2825496" cy="9144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72" name="Text 70"/>
          <p:cNvSpPr/>
          <p:nvPr/>
        </p:nvSpPr>
        <p:spPr>
          <a:xfrm>
            <a:off x="2057400" y="2286000"/>
            <a:ext cx="14127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 variables.py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3931920" y="2322576"/>
            <a:ext cx="768096" cy="182880"/>
          </a:xfrm>
          <a:prstGeom prst="roundRect">
            <a:avLst>
              <a:gd name="adj" fmla="val 20000"/>
            </a:avLst>
          </a:prstGeom>
          <a:solidFill>
            <a:srgbClr val="3C3C3C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931920" y="2322576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실행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4462272" y="2322576"/>
            <a:ext cx="237744" cy="182880"/>
          </a:xfrm>
          <a:prstGeom prst="roundRect">
            <a:avLst>
              <a:gd name="adj" fmla="val 15000"/>
            </a:avLst>
          </a:prstGeom>
          <a:solidFill>
            <a:srgbClr val="F14C4C"/>
          </a:solidFill>
          <a:ln/>
        </p:spPr>
      </p:sp>
      <p:sp>
        <p:nvSpPr>
          <p:cNvPr id="76" name="Text 74"/>
          <p:cNvSpPr/>
          <p:nvPr/>
        </p:nvSpPr>
        <p:spPr>
          <a:xfrm>
            <a:off x="4462272" y="2322576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517136" y="2221992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498848" y="2211019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1947672" y="2578608"/>
            <a:ext cx="2825496" cy="137297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80" name="Shape 78"/>
          <p:cNvSpPr/>
          <p:nvPr/>
        </p:nvSpPr>
        <p:spPr>
          <a:xfrm>
            <a:off x="1947672" y="2578608"/>
            <a:ext cx="274320" cy="1372972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1" name="Text 79"/>
          <p:cNvSpPr/>
          <p:nvPr/>
        </p:nvSpPr>
        <p:spPr>
          <a:xfrm>
            <a:off x="1984248" y="26151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858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1984248" y="28163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858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1984248" y="30175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858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1984248" y="32186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858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1984248" y="34198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858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1984248" y="36210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858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1984248" y="38221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858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1984248" y="40233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858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1984248" y="42245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858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2276856" y="2615184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변수 출력하기 — 파이썬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2276856" y="2816352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2276856" y="3017520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'김미래'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2276856" y="3218688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90</a:t>
            </a:r>
            <a:endParaRPr lang="en-US" sz="750" dirty="0"/>
          </a:p>
        </p:txBody>
      </p:sp>
      <p:sp>
        <p:nvSpPr>
          <p:cNvPr id="94" name="Text 92"/>
          <p:cNvSpPr/>
          <p:nvPr/>
        </p:nvSpPr>
        <p:spPr>
          <a:xfrm>
            <a:off x="2276856" y="3419856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2276856" y="3621024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print(f'이름 : {name}')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2276856" y="3822192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print(f'점수 : {score}')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2221992" y="3017520"/>
            <a:ext cx="2551176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8" name="Shape 96"/>
          <p:cNvSpPr/>
          <p:nvPr/>
        </p:nvSpPr>
        <p:spPr>
          <a:xfrm>
            <a:off x="2221992" y="3017520"/>
            <a:ext cx="2551176" cy="201168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99" name="Shape 97"/>
          <p:cNvSpPr/>
          <p:nvPr/>
        </p:nvSpPr>
        <p:spPr>
          <a:xfrm>
            <a:off x="1947672" y="3988156"/>
            <a:ext cx="2825496" cy="7575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00" name="Shape 98"/>
          <p:cNvSpPr/>
          <p:nvPr/>
        </p:nvSpPr>
        <p:spPr>
          <a:xfrm>
            <a:off x="1947672" y="3988156"/>
            <a:ext cx="804672" cy="201168"/>
          </a:xfrm>
          <a:prstGeom prst="rect">
            <a:avLst/>
          </a:prstGeom>
          <a:solidFill>
            <a:srgbClr val="3776AB"/>
          </a:solidFill>
          <a:ln/>
        </p:spPr>
      </p:sp>
      <p:sp>
        <p:nvSpPr>
          <p:cNvPr id="101" name="Text 99"/>
          <p:cNvSpPr/>
          <p:nvPr/>
        </p:nvSpPr>
        <p:spPr>
          <a:xfrm>
            <a:off x="1947672" y="3988156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채점 결과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2770632" y="3988156"/>
            <a:ext cx="804672" cy="20116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03" name="Text 101"/>
          <p:cNvSpPr/>
          <p:nvPr/>
        </p:nvSpPr>
        <p:spPr>
          <a:xfrm>
            <a:off x="2770632" y="3988156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858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결과</a:t>
            </a:r>
            <a:endParaRPr lang="en-US" sz="700" dirty="0"/>
          </a:p>
        </p:txBody>
      </p:sp>
      <p:sp>
        <p:nvSpPr>
          <p:cNvPr id="104" name="Shape 102"/>
          <p:cNvSpPr/>
          <p:nvPr/>
        </p:nvSpPr>
        <p:spPr>
          <a:xfrm>
            <a:off x="3593592" y="3988156"/>
            <a:ext cx="804672" cy="20116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05" name="Text 103"/>
          <p:cNvSpPr/>
          <p:nvPr/>
        </p:nvSpPr>
        <p:spPr>
          <a:xfrm>
            <a:off x="3593592" y="3988156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858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힌트</a:t>
            </a:r>
            <a:endParaRPr lang="en-US" sz="700" dirty="0"/>
          </a:p>
        </p:txBody>
      </p:sp>
      <p:sp>
        <p:nvSpPr>
          <p:cNvPr id="106" name="Text 104"/>
          <p:cNvSpPr/>
          <p:nvPr/>
        </p:nvSpPr>
        <p:spPr>
          <a:xfrm>
            <a:off x="2039112" y="4225900"/>
            <a:ext cx="197784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 1 · 이름 출력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4270248" y="4244188"/>
            <a:ext cx="384048" cy="182880"/>
          </a:xfrm>
          <a:prstGeom prst="roundRect">
            <a:avLst>
              <a:gd name="adj" fmla="val 20000"/>
            </a:avLst>
          </a:prstGeom>
          <a:solidFill>
            <a:srgbClr val="3C3C3C"/>
          </a:solidFill>
          <a:ln/>
        </p:spPr>
      </p:sp>
      <p:sp>
        <p:nvSpPr>
          <p:cNvPr id="108" name="Text 106"/>
          <p:cNvSpPr/>
          <p:nvPr/>
        </p:nvSpPr>
        <p:spPr>
          <a:xfrm>
            <a:off x="4270248" y="424418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858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대기</a:t>
            </a:r>
            <a:endParaRPr lang="en-US" sz="650" dirty="0"/>
          </a:p>
        </p:txBody>
      </p:sp>
      <p:sp>
        <p:nvSpPr>
          <p:cNvPr id="109" name="Text 107"/>
          <p:cNvSpPr/>
          <p:nvPr/>
        </p:nvSpPr>
        <p:spPr>
          <a:xfrm>
            <a:off x="2039112" y="4500220"/>
            <a:ext cx="197784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 2 · 점수 출력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4270248" y="4518508"/>
            <a:ext cx="384048" cy="182880"/>
          </a:xfrm>
          <a:prstGeom prst="roundRect">
            <a:avLst>
              <a:gd name="adj" fmla="val 20000"/>
            </a:avLst>
          </a:prstGeom>
          <a:solidFill>
            <a:srgbClr val="3C3C3C"/>
          </a:solidFill>
          <a:ln/>
        </p:spPr>
      </p:sp>
      <p:sp>
        <p:nvSpPr>
          <p:cNvPr id="111" name="Text 109"/>
          <p:cNvSpPr/>
          <p:nvPr/>
        </p:nvSpPr>
        <p:spPr>
          <a:xfrm>
            <a:off x="4270248" y="451850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858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대기</a:t>
            </a:r>
            <a:endParaRPr lang="en-US" sz="650" dirty="0"/>
          </a:p>
        </p:txBody>
      </p:sp>
      <p:sp>
        <p:nvSpPr>
          <p:cNvPr id="112" name="Shape 110"/>
          <p:cNvSpPr/>
          <p:nvPr/>
        </p:nvSpPr>
        <p:spPr>
          <a:xfrm>
            <a:off x="4864608" y="2286000"/>
            <a:ext cx="1280160" cy="2496312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3776AB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864608" y="2286000"/>
            <a:ext cx="1280160" cy="219456"/>
          </a:xfrm>
          <a:prstGeom prst="roundRect">
            <a:avLst>
              <a:gd name="adj" fmla="val 16667"/>
            </a:avLst>
          </a:prstGeom>
          <a:solidFill>
            <a:srgbClr val="3776AB"/>
          </a:solidFill>
          <a:ln/>
        </p:spPr>
      </p:sp>
      <p:sp>
        <p:nvSpPr>
          <p:cNvPr id="114" name="Shape 112"/>
          <p:cNvSpPr/>
          <p:nvPr/>
        </p:nvSpPr>
        <p:spPr>
          <a:xfrm>
            <a:off x="4864608" y="2414016"/>
            <a:ext cx="1280160" cy="91440"/>
          </a:xfrm>
          <a:prstGeom prst="rect">
            <a:avLst/>
          </a:prstGeom>
          <a:solidFill>
            <a:srgbClr val="3776AB"/>
          </a:solidFill>
          <a:ln/>
        </p:spPr>
      </p:sp>
      <p:sp>
        <p:nvSpPr>
          <p:cNvPr id="115" name="Text 113"/>
          <p:cNvSpPr/>
          <p:nvPr/>
        </p:nvSpPr>
        <p:spPr>
          <a:xfrm>
            <a:off x="4937760" y="228600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결과 확인</a:t>
            </a:r>
            <a:endParaRPr lang="en-US" sz="750" dirty="0"/>
          </a:p>
        </p:txBody>
      </p:sp>
      <p:sp>
        <p:nvSpPr>
          <p:cNvPr id="116" name="Text 114"/>
          <p:cNvSpPr/>
          <p:nvPr/>
        </p:nvSpPr>
        <p:spPr>
          <a:xfrm>
            <a:off x="4956048" y="2560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제출 이력</a:t>
            </a:r>
            <a:endParaRPr lang="en-US" sz="750" dirty="0"/>
          </a:p>
        </p:txBody>
      </p:sp>
      <p:sp>
        <p:nvSpPr>
          <p:cNvPr id="117" name="Shape 115"/>
          <p:cNvSpPr/>
          <p:nvPr/>
        </p:nvSpPr>
        <p:spPr>
          <a:xfrm>
            <a:off x="4937760" y="2761488"/>
            <a:ext cx="1133856" cy="2743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4992624" y="27614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1차 제출</a:t>
            </a:r>
            <a:endParaRPr lang="en-US" sz="700" dirty="0"/>
          </a:p>
        </p:txBody>
      </p:sp>
      <p:sp>
        <p:nvSpPr>
          <p:cNvPr id="119" name="Shape 117"/>
          <p:cNvSpPr/>
          <p:nvPr/>
        </p:nvSpPr>
        <p:spPr>
          <a:xfrm>
            <a:off x="5641848" y="2816352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120" name="Text 118"/>
          <p:cNvSpPr/>
          <p:nvPr/>
        </p:nvSpPr>
        <p:spPr>
          <a:xfrm>
            <a:off x="5641848" y="280720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부분 통과</a:t>
            </a:r>
            <a:endParaRPr lang="en-US" sz="600" dirty="0"/>
          </a:p>
        </p:txBody>
      </p:sp>
      <p:sp>
        <p:nvSpPr>
          <p:cNvPr id="121" name="Shape 119"/>
          <p:cNvSpPr/>
          <p:nvPr/>
        </p:nvSpPr>
        <p:spPr>
          <a:xfrm>
            <a:off x="4937760" y="3090672"/>
            <a:ext cx="1133856" cy="2743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4992624" y="3090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2차 제출</a:t>
            </a:r>
            <a:endParaRPr lang="en-US" sz="700" dirty="0"/>
          </a:p>
        </p:txBody>
      </p:sp>
      <p:sp>
        <p:nvSpPr>
          <p:cNvPr id="123" name="Shape 121"/>
          <p:cNvSpPr/>
          <p:nvPr/>
        </p:nvSpPr>
        <p:spPr>
          <a:xfrm>
            <a:off x="5641848" y="3145536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</p:sp>
      <p:sp>
        <p:nvSpPr>
          <p:cNvPr id="124" name="Text 122"/>
          <p:cNvSpPr/>
          <p:nvPr/>
        </p:nvSpPr>
        <p:spPr>
          <a:xfrm>
            <a:off x="5641848" y="313639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대기 중</a:t>
            </a:r>
            <a:endParaRPr lang="en-US" sz="600" dirty="0"/>
          </a:p>
        </p:txBody>
      </p:sp>
      <p:sp>
        <p:nvSpPr>
          <p:cNvPr id="125" name="Text 123"/>
          <p:cNvSpPr/>
          <p:nvPr/>
        </p:nvSpPr>
        <p:spPr>
          <a:xfrm>
            <a:off x="4956048" y="34564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피드백</a:t>
            </a:r>
            <a:endParaRPr lang="en-US" sz="750" dirty="0"/>
          </a:p>
        </p:txBody>
      </p:sp>
      <p:sp>
        <p:nvSpPr>
          <p:cNvPr id="126" name="Shape 124"/>
          <p:cNvSpPr/>
          <p:nvPr/>
        </p:nvSpPr>
        <p:spPr>
          <a:xfrm>
            <a:off x="4937760" y="3657600"/>
            <a:ext cx="1133856" cy="1005840"/>
          </a:xfrm>
          <a:prstGeom prst="roundRect">
            <a:avLst>
              <a:gd name="adj" fmla="val 3636"/>
            </a:avLst>
          </a:prstGeom>
          <a:solidFill>
            <a:srgbClr val="EBF5FB"/>
          </a:solidFill>
          <a:ln/>
        </p:spPr>
      </p:sp>
      <p:sp>
        <p:nvSpPr>
          <p:cNvPr id="127" name="Text 125"/>
          <p:cNvSpPr/>
          <p:nvPr/>
        </p:nvSpPr>
        <p:spPr>
          <a:xfrm>
            <a:off x="4992624" y="3712464"/>
            <a:ext cx="1060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변수에 숫자(int)를</a:t>
            </a:r>
            <a:endParaRPr lang="en-US" sz="7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할당해보세요.</a:t>
            </a:r>
            <a:endParaRPr lang="en-US" sz="750" dirty="0"/>
          </a:p>
          <a:p>
            <a:pPr algn="l" indent="0" marL="0">
              <a:lnSpc>
                <a:spcPct val="120000"/>
              </a:lnSpc>
              <a:buNone/>
            </a:pPr>
            <a:endParaRPr lang="en-US" sz="7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문자열 f-string 안에</a:t>
            </a:r>
            <a:endParaRPr lang="en-US" sz="7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변수를 { } 로 감싸면</a:t>
            </a:r>
            <a:endParaRPr lang="en-US" sz="7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값이 출력돼요.</a:t>
            </a:r>
            <a:endParaRPr lang="en-US" sz="750" dirty="0"/>
          </a:p>
        </p:txBody>
      </p:sp>
      <p:sp>
        <p:nvSpPr>
          <p:cNvPr id="128" name="Shape 126"/>
          <p:cNvSpPr/>
          <p:nvPr/>
        </p:nvSpPr>
        <p:spPr>
          <a:xfrm>
            <a:off x="4937760" y="4325112"/>
            <a:ext cx="1133856" cy="2743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4992624" y="432511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377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3.11  ✓</a:t>
            </a:r>
            <a:endParaRPr lang="en-US" sz="750" dirty="0"/>
          </a:p>
        </p:txBody>
      </p:sp>
      <p:sp>
        <p:nvSpPr>
          <p:cNvPr id="130" name="Text 128"/>
          <p:cNvSpPr/>
          <p:nvPr/>
        </p:nvSpPr>
        <p:spPr>
          <a:xfrm>
            <a:off x="4992624" y="4581144"/>
            <a:ext cx="106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IPO 출력하기 (100%)</a:t>
            </a:r>
            <a:endParaRPr lang="en-US" sz="700" dirty="0"/>
          </a:p>
        </p:txBody>
      </p:sp>
      <p:sp>
        <p:nvSpPr>
          <p:cNvPr id="131" name="Shape 129"/>
          <p:cNvSpPr/>
          <p:nvPr/>
        </p:nvSpPr>
        <p:spPr>
          <a:xfrm>
            <a:off x="484632" y="4553712"/>
            <a:ext cx="5660136" cy="237744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57784" y="4581144"/>
            <a:ext cx="82296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557784" y="458114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이전 자료</a:t>
            </a:r>
            <a:endParaRPr lang="en-US" sz="700" dirty="0"/>
          </a:p>
        </p:txBody>
      </p:sp>
      <p:sp>
        <p:nvSpPr>
          <p:cNvPr id="134" name="Text 132"/>
          <p:cNvSpPr/>
          <p:nvPr/>
        </p:nvSpPr>
        <p:spPr>
          <a:xfrm>
            <a:off x="3159252" y="45537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6/6</a:t>
            </a:r>
            <a:endParaRPr lang="en-US" sz="750" dirty="0"/>
          </a:p>
        </p:txBody>
      </p:sp>
      <p:sp>
        <p:nvSpPr>
          <p:cNvPr id="135" name="Shape 133"/>
          <p:cNvSpPr/>
          <p:nvPr/>
        </p:nvSpPr>
        <p:spPr>
          <a:xfrm>
            <a:off x="5340096" y="4581144"/>
            <a:ext cx="731520" cy="182880"/>
          </a:xfrm>
          <a:prstGeom prst="roundRect">
            <a:avLst>
              <a:gd name="adj" fmla="val 20000"/>
            </a:avLst>
          </a:prstGeom>
          <a:solidFill>
            <a:srgbClr val="3776AB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5340096" y="458114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 🏁</a:t>
            </a:r>
            <a:endParaRPr lang="en-US" sz="700" dirty="0"/>
          </a:p>
        </p:txBody>
      </p:sp>
      <p:sp>
        <p:nvSpPr>
          <p:cNvPr id="137" name="Text 135"/>
          <p:cNvSpPr/>
          <p:nvPr/>
        </p:nvSpPr>
        <p:spPr>
          <a:xfrm>
            <a:off x="6400800" y="95097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구성 요소</a:t>
            </a:r>
            <a:endParaRPr lang="en-US" sz="1200" dirty="0"/>
          </a:p>
        </p:txBody>
      </p:sp>
      <p:sp>
        <p:nvSpPr>
          <p:cNvPr id="138" name="Shape 136"/>
          <p:cNvSpPr/>
          <p:nvPr/>
        </p:nvSpPr>
        <p:spPr>
          <a:xfrm>
            <a:off x="6400800" y="1289304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6382512" y="1278331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40" name="Text 138"/>
          <p:cNvSpPr/>
          <p:nvPr/>
        </p:nvSpPr>
        <p:spPr>
          <a:xfrm>
            <a:off x="6693408" y="1280160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에디터 타입 탭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 코딩(엔트리) ↔ 텍스트 코딩(파이썬) 전환 — 고등 전용</a:t>
            </a:r>
            <a:endParaRPr lang="en-US" sz="900" dirty="0"/>
          </a:p>
        </p:txBody>
      </p:sp>
      <p:sp>
        <p:nvSpPr>
          <p:cNvPr id="141" name="Shape 139"/>
          <p:cNvSpPr/>
          <p:nvPr/>
        </p:nvSpPr>
        <p:spPr>
          <a:xfrm>
            <a:off x="6400800" y="1984248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6382512" y="1973275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43" name="Text 141"/>
          <p:cNvSpPr/>
          <p:nvPr/>
        </p:nvSpPr>
        <p:spPr>
          <a:xfrm>
            <a:off x="6693408" y="1975104"/>
            <a:ext cx="2039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 스텝퍼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단계별 진행 상태 시각화 (완료·진행·미완료)</a:t>
            </a:r>
            <a:endParaRPr lang="en-US" sz="900" dirty="0"/>
          </a:p>
        </p:txBody>
      </p:sp>
      <p:sp>
        <p:nvSpPr>
          <p:cNvPr id="144" name="Shape 142"/>
          <p:cNvSpPr/>
          <p:nvPr/>
        </p:nvSpPr>
        <p:spPr>
          <a:xfrm>
            <a:off x="6400800" y="2642616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6382512" y="2631643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46" name="Text 144"/>
          <p:cNvSpPr/>
          <p:nvPr/>
        </p:nvSpPr>
        <p:spPr>
          <a:xfrm>
            <a:off x="6693408" y="2633472"/>
            <a:ext cx="2039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보조 자료·달성조건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문제·힌트·제출이력 탭, 테스트케이스, 달성조건 체크리스트</a:t>
            </a:r>
            <a:endParaRPr lang="en-US" sz="900" dirty="0"/>
          </a:p>
        </p:txBody>
      </p:sp>
      <p:sp>
        <p:nvSpPr>
          <p:cNvPr id="147" name="Shape 145"/>
          <p:cNvSpPr/>
          <p:nvPr/>
        </p:nvSpPr>
        <p:spPr>
          <a:xfrm>
            <a:off x="6400800" y="3429000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6382512" y="3418027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49" name="Text 147"/>
          <p:cNvSpPr/>
          <p:nvPr/>
        </p:nvSpPr>
        <p:spPr>
          <a:xfrm>
            <a:off x="6693408" y="3419856"/>
            <a:ext cx="2039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파이썬 코드 에디터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다크 테마 텍스트 에디터, 라인 넘버, 구문 강조, ▶실행 버튼</a:t>
            </a:r>
            <a:endParaRPr lang="en-US" sz="900" dirty="0"/>
          </a:p>
        </p:txBody>
      </p:sp>
      <p:sp>
        <p:nvSpPr>
          <p:cNvPr id="150" name="Shape 148"/>
          <p:cNvSpPr/>
          <p:nvPr/>
        </p:nvSpPr>
        <p:spPr>
          <a:xfrm>
            <a:off x="6400800" y="4215384"/>
            <a:ext cx="192024" cy="1920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6382512" y="4204411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152" name="Text 150"/>
          <p:cNvSpPr/>
          <p:nvPr/>
        </p:nvSpPr>
        <p:spPr>
          <a:xfrm>
            <a:off x="6693408" y="4206240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결과 확인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제출 이력 / AI 피드백 / Python 버전·진행률 표시</a:t>
            </a:r>
            <a:endParaRPr lang="en-US" sz="900" dirty="0"/>
          </a:p>
        </p:txBody>
      </p:sp>
      <p:sp>
        <p:nvSpPr>
          <p:cNvPr id="153" name="Shape 151"/>
          <p:cNvSpPr/>
          <p:nvPr/>
        </p:nvSpPr>
        <p:spPr>
          <a:xfrm>
            <a:off x="6400800" y="4370832"/>
            <a:ext cx="2331720" cy="475488"/>
          </a:xfrm>
          <a:prstGeom prst="roundRect">
            <a:avLst>
              <a:gd name="adj" fmla="val 9615"/>
            </a:avLst>
          </a:prstGeom>
          <a:solidFill>
            <a:srgbClr val="E0F0F7"/>
          </a:solidFill>
          <a:ln/>
        </p:spPr>
      </p:sp>
      <p:sp>
        <p:nvSpPr>
          <p:cNvPr id="154" name="Text 152"/>
          <p:cNvSpPr/>
          <p:nvPr/>
        </p:nvSpPr>
        <p:spPr>
          <a:xfrm>
            <a:off x="6492240" y="437083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여정 단계: 수업 중 ⑤ — 고등 정보 교과 핵심 · 파이썬 텍스트 코딩 실습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정보 AI 학습 플랫폼 기획안 - 서비스 기획</dc:title>
  <dc:subject>PptxGenJS Presentation</dc:subject>
  <dc:creator>PptxGenJS</dc:creator>
  <cp:lastModifiedBy>PptxGenJS</cp:lastModifiedBy>
  <cp:revision>1</cp:revision>
  <dcterms:created xsi:type="dcterms:W3CDTF">2026-06-13T07:19:05Z</dcterms:created>
  <dcterms:modified xsi:type="dcterms:W3CDTF">2026-06-13T07:19:05Z</dcterms:modified>
</cp:coreProperties>
</file>